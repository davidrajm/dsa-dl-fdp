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7" r:id="rId3"/>
    <p:sldId id="258" r:id="rId4"/>
    <p:sldId id="269" r:id="rId5"/>
    <p:sldId id="271" r:id="rId6"/>
    <p:sldId id="274" r:id="rId7"/>
    <p:sldId id="275" r:id="rId8"/>
    <p:sldId id="277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B38159-7B11-4EE2-9D2B-D9A5417652D6}" v="43" dt="2026-03-14T03:15:07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6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MITY SRINIVASA RAO" userId="542f5364790f373c" providerId="LiveId" clId="{B8B57195-3A05-402F-903B-FD6B88090B29}"/>
    <pc:docChg chg="undo custSel addSld delSld modSld">
      <pc:chgData name="UMMITY SRINIVASA RAO" userId="542f5364790f373c" providerId="LiveId" clId="{B8B57195-3A05-402F-903B-FD6B88090B29}" dt="2026-03-14T03:18:33.428" v="336" actId="2696"/>
      <pc:docMkLst>
        <pc:docMk/>
      </pc:docMkLst>
      <pc:sldChg chg="modSp mod">
        <pc:chgData name="UMMITY SRINIVASA RAO" userId="542f5364790f373c" providerId="LiveId" clId="{B8B57195-3A05-402F-903B-FD6B88090B29}" dt="2026-03-11T11:01:16.853" v="20" actId="20577"/>
        <pc:sldMkLst>
          <pc:docMk/>
          <pc:sldMk cId="938358083" sldId="269"/>
        </pc:sldMkLst>
        <pc:spChg chg="mod">
          <ac:chgData name="UMMITY SRINIVASA RAO" userId="542f5364790f373c" providerId="LiveId" clId="{B8B57195-3A05-402F-903B-FD6B88090B29}" dt="2026-03-11T11:01:16.853" v="20" actId="20577"/>
          <ac:spMkLst>
            <pc:docMk/>
            <pc:sldMk cId="938358083" sldId="269"/>
            <ac:spMk id="4" creationId="{5377B64B-BC1F-B19F-9386-A01D3FEA1881}"/>
          </ac:spMkLst>
        </pc:spChg>
      </pc:sldChg>
      <pc:sldChg chg="modSp add del mod">
        <pc:chgData name="UMMITY SRINIVASA RAO" userId="542f5364790f373c" providerId="LiveId" clId="{B8B57195-3A05-402F-903B-FD6B88090B29}" dt="2026-03-14T03:12:59.918" v="256"/>
        <pc:sldMkLst>
          <pc:docMk/>
          <pc:sldMk cId="3859401818" sldId="271"/>
        </pc:sldMkLst>
        <pc:spChg chg="mod">
          <ac:chgData name="UMMITY SRINIVASA RAO" userId="542f5364790f373c" providerId="LiveId" clId="{B8B57195-3A05-402F-903B-FD6B88090B29}" dt="2026-03-11T10:59:52.048" v="13"/>
          <ac:spMkLst>
            <pc:docMk/>
            <pc:sldMk cId="3859401818" sldId="271"/>
            <ac:spMk id="3" creationId="{43CFE36C-6829-DECD-426C-4C7E26378A2A}"/>
          </ac:spMkLst>
        </pc:spChg>
        <pc:spChg chg="mod">
          <ac:chgData name="UMMITY SRINIVASA RAO" userId="542f5364790f373c" providerId="LiveId" clId="{B8B57195-3A05-402F-903B-FD6B88090B29}" dt="2026-03-14T03:12:59.918" v="256"/>
          <ac:spMkLst>
            <pc:docMk/>
            <pc:sldMk cId="3859401818" sldId="271"/>
            <ac:spMk id="4" creationId="{255670EB-056F-B873-E7E9-6D7D235AF0EF}"/>
          </ac:spMkLst>
        </pc:spChg>
      </pc:sldChg>
      <pc:sldChg chg="addSp delSp modSp add del mod">
        <pc:chgData name="UMMITY SRINIVASA RAO" userId="542f5364790f373c" providerId="LiveId" clId="{B8B57195-3A05-402F-903B-FD6B88090B29}" dt="2026-03-13T10:26:50.134" v="146" actId="47"/>
        <pc:sldMkLst>
          <pc:docMk/>
          <pc:sldMk cId="1588873874" sldId="272"/>
        </pc:sldMkLst>
        <pc:spChg chg="add del mod">
          <ac:chgData name="UMMITY SRINIVASA RAO" userId="542f5364790f373c" providerId="LiveId" clId="{B8B57195-3A05-402F-903B-FD6B88090B29}" dt="2026-03-13T10:16:51.264" v="32" actId="47"/>
          <ac:spMkLst>
            <pc:docMk/>
            <pc:sldMk cId="1588873874" sldId="272"/>
            <ac:spMk id="4" creationId="{041A506D-5F61-9754-B60A-FFCD841A6670}"/>
          </ac:spMkLst>
        </pc:spChg>
      </pc:sldChg>
      <pc:sldChg chg="addSp modSp add mod">
        <pc:chgData name="UMMITY SRINIVASA RAO" userId="542f5364790f373c" providerId="LiveId" clId="{B8B57195-3A05-402F-903B-FD6B88090B29}" dt="2026-03-13T10:26:33.320" v="145" actId="14100"/>
        <pc:sldMkLst>
          <pc:docMk/>
          <pc:sldMk cId="235060543" sldId="273"/>
        </pc:sldMkLst>
        <pc:spChg chg="mod">
          <ac:chgData name="UMMITY SRINIVASA RAO" userId="542f5364790f373c" providerId="LiveId" clId="{B8B57195-3A05-402F-903B-FD6B88090B29}" dt="2026-03-13T10:26:33.320" v="145" actId="14100"/>
          <ac:spMkLst>
            <pc:docMk/>
            <pc:sldMk cId="235060543" sldId="273"/>
            <ac:spMk id="4" creationId="{2F3CA2F8-35D8-3C23-80E1-491AFAD50F0F}"/>
          </ac:spMkLst>
        </pc:spChg>
        <pc:spChg chg="add">
          <ac:chgData name="UMMITY SRINIVASA RAO" userId="542f5364790f373c" providerId="LiveId" clId="{B8B57195-3A05-402F-903B-FD6B88090B29}" dt="2026-03-13T10:25:43.409" v="109"/>
          <ac:spMkLst>
            <pc:docMk/>
            <pc:sldMk cId="235060543" sldId="273"/>
            <ac:spMk id="5" creationId="{624B8BFC-770F-0A16-FFD7-DE7AC3059DA9}"/>
          </ac:spMkLst>
        </pc:spChg>
      </pc:sldChg>
      <pc:sldChg chg="modSp add mod">
        <pc:chgData name="UMMITY SRINIVASA RAO" userId="542f5364790f373c" providerId="LiveId" clId="{B8B57195-3A05-402F-903B-FD6B88090B29}" dt="2026-03-14T03:14:26.667" v="295" actId="20577"/>
        <pc:sldMkLst>
          <pc:docMk/>
          <pc:sldMk cId="1302372362" sldId="274"/>
        </pc:sldMkLst>
        <pc:spChg chg="mod">
          <ac:chgData name="UMMITY SRINIVASA RAO" userId="542f5364790f373c" providerId="LiveId" clId="{B8B57195-3A05-402F-903B-FD6B88090B29}" dt="2026-03-14T03:12:31.731" v="254" actId="20577"/>
          <ac:spMkLst>
            <pc:docMk/>
            <pc:sldMk cId="1302372362" sldId="274"/>
            <ac:spMk id="3" creationId="{8979CA2C-160F-EB58-3E1D-DC5F7B87279B}"/>
          </ac:spMkLst>
        </pc:spChg>
        <pc:spChg chg="mod">
          <ac:chgData name="UMMITY SRINIVASA RAO" userId="542f5364790f373c" providerId="LiveId" clId="{B8B57195-3A05-402F-903B-FD6B88090B29}" dt="2026-03-14T03:14:26.667" v="295" actId="20577"/>
          <ac:spMkLst>
            <pc:docMk/>
            <pc:sldMk cId="1302372362" sldId="274"/>
            <ac:spMk id="4" creationId="{32BD7483-F376-EFCC-C267-EA37234F8F31}"/>
          </ac:spMkLst>
        </pc:spChg>
      </pc:sldChg>
      <pc:sldChg chg="modSp add mod">
        <pc:chgData name="UMMITY SRINIVASA RAO" userId="542f5364790f373c" providerId="LiveId" clId="{B8B57195-3A05-402F-903B-FD6B88090B29}" dt="2026-03-14T03:13:44.414" v="261"/>
        <pc:sldMkLst>
          <pc:docMk/>
          <pc:sldMk cId="1037435845" sldId="275"/>
        </pc:sldMkLst>
        <pc:spChg chg="mod">
          <ac:chgData name="UMMITY SRINIVASA RAO" userId="542f5364790f373c" providerId="LiveId" clId="{B8B57195-3A05-402F-903B-FD6B88090B29}" dt="2026-03-14T03:13:44.414" v="261"/>
          <ac:spMkLst>
            <pc:docMk/>
            <pc:sldMk cId="1037435845" sldId="275"/>
            <ac:spMk id="4" creationId="{4C3A0A6F-EED1-346C-F33E-9A37950C4FF7}"/>
          </ac:spMkLst>
        </pc:spChg>
      </pc:sldChg>
      <pc:sldChg chg="modSp add del mod">
        <pc:chgData name="UMMITY SRINIVASA RAO" userId="542f5364790f373c" providerId="LiveId" clId="{B8B57195-3A05-402F-903B-FD6B88090B29}" dt="2026-03-14T03:18:33.428" v="336" actId="2696"/>
        <pc:sldMkLst>
          <pc:docMk/>
          <pc:sldMk cId="2270806840" sldId="276"/>
        </pc:sldMkLst>
        <pc:spChg chg="mod">
          <ac:chgData name="UMMITY SRINIVASA RAO" userId="542f5364790f373c" providerId="LiveId" clId="{B8B57195-3A05-402F-903B-FD6B88090B29}" dt="2026-03-14T03:14:56.955" v="297" actId="6549"/>
          <ac:spMkLst>
            <pc:docMk/>
            <pc:sldMk cId="2270806840" sldId="276"/>
            <ac:spMk id="4" creationId="{034E657D-C75B-A9EA-2AD3-6BC0972F7772}"/>
          </ac:spMkLst>
        </pc:spChg>
      </pc:sldChg>
      <pc:sldChg chg="modSp add mod">
        <pc:chgData name="UMMITY SRINIVASA RAO" userId="542f5364790f373c" providerId="LiveId" clId="{B8B57195-3A05-402F-903B-FD6B88090B29}" dt="2026-03-14T03:15:19.576" v="335" actId="20577"/>
        <pc:sldMkLst>
          <pc:docMk/>
          <pc:sldMk cId="2851886770" sldId="277"/>
        </pc:sldMkLst>
        <pc:spChg chg="mod">
          <ac:chgData name="UMMITY SRINIVASA RAO" userId="542f5364790f373c" providerId="LiveId" clId="{B8B57195-3A05-402F-903B-FD6B88090B29}" dt="2026-03-14T03:15:19.576" v="335" actId="20577"/>
          <ac:spMkLst>
            <pc:docMk/>
            <pc:sldMk cId="2851886770" sldId="277"/>
            <ac:spMk id="4" creationId="{31B51E10-6164-A84D-18A8-538E4809C8E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EC5D8-25BD-42DC-71F4-AC61C347A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96FAB8-0B9E-7657-ACD9-A2BF67881620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C54F9-0FF4-6CAA-E8C2-86F355807A6B}"/>
              </a:ext>
            </a:extLst>
          </p:cNvPr>
          <p:cNvSpPr txBox="1"/>
          <p:nvPr/>
        </p:nvSpPr>
        <p:spPr>
          <a:xfrm>
            <a:off x="457200" y="182880"/>
            <a:ext cx="239520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rPr lang="en-IN" sz="3600" b="1" dirty="0">
                <a:solidFill>
                  <a:srgbClr val="FF0000"/>
                </a:solidFill>
              </a:rPr>
              <a:t>Computing </a:t>
            </a:r>
            <a:endParaRPr lang="en-IN" sz="3600" dirty="0"/>
          </a:p>
          <a:p>
            <a:pPr>
              <a:defRPr sz="3600" b="1">
                <a:solidFill>
                  <a:srgbClr val="000000"/>
                </a:solidFill>
              </a:defRPr>
            </a:pP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3CA2F8-35D8-3C23-80E1-491AFAD50F0F}"/>
                  </a:ext>
                </a:extLst>
              </p:cNvPr>
              <p:cNvSpPr txBox="1"/>
              <p:nvPr/>
            </p:nvSpPr>
            <p:spPr>
              <a:xfrm>
                <a:off x="457201" y="731520"/>
                <a:ext cx="10070122" cy="5878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400"/>
                </a:pPr>
                <a:endParaRPr lang="en-US" dirty="0"/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IN" sz="3200" b="1" dirty="0"/>
                  <a:t>Traditional Computing</a:t>
                </a:r>
                <a:endParaRPr lang="en-I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3200"/>
                        <m:t>Input</m:t>
                      </m:r>
                      <m:r>
                        <a:rPr lang="en-IN" sz="3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IN" sz="3200" i="1"/>
                        <m:t>Well</m:t>
                      </m:r>
                      <m:r>
                        <m:rPr>
                          <m:nor/>
                        </m:rPr>
                        <a:rPr lang="en-IN" sz="3200" i="1"/>
                        <m:t>−</m:t>
                      </m:r>
                      <m:r>
                        <m:rPr>
                          <m:nor/>
                        </m:rPr>
                        <a:rPr lang="en-IN" sz="3200" i="1"/>
                        <m:t>defined</m:t>
                      </m:r>
                      <m:r>
                        <m:rPr>
                          <m:nor/>
                        </m:rPr>
                        <a:rPr lang="en-IN" sz="3200" i="1"/>
                        <m:t> </m:t>
                      </m:r>
                      <m:r>
                        <m:rPr>
                          <m:nor/>
                        </m:rPr>
                        <a:rPr lang="en-IN" sz="3200" i="1"/>
                        <m:t>Algorithm</m:t>
                      </m:r>
                      <m:r>
                        <a:rPr lang="en-IN" sz="3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IN" sz="3200" i="1"/>
                        <m:t>Output</m:t>
                      </m:r>
                    </m:oMath>
                  </m:oMathPara>
                </a14:m>
                <a:endParaRPr lang="en-IN" sz="3200" dirty="0"/>
              </a:p>
              <a:p>
                <a:endParaRPr lang="en-IN" sz="3200" dirty="0"/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IN" sz="3200" b="1" dirty="0"/>
                  <a:t>Non-Traditional Computing (Machine Learning)</a:t>
                </a:r>
                <a:endParaRPr lang="en-I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3200"/>
                        <m:t>Training</m:t>
                      </m:r>
                      <m:r>
                        <m:rPr>
                          <m:nor/>
                        </m:rPr>
                        <a:rPr lang="en-IN" sz="3200" i="1"/>
                        <m:t> </m:t>
                      </m:r>
                      <m:r>
                        <m:rPr>
                          <m:nor/>
                        </m:rPr>
                        <a:rPr lang="en-IN" sz="3200" i="1"/>
                        <m:t>Data</m:t>
                      </m:r>
                      <m:r>
                        <m:rPr>
                          <m:nor/>
                        </m:rPr>
                        <a:rPr lang="en-IN" sz="3200" i="1"/>
                        <m:t> + </m:t>
                      </m:r>
                      <m:r>
                        <m:rPr>
                          <m:nor/>
                        </m:rPr>
                        <a:rPr lang="en-IN" sz="3200" i="1"/>
                        <m:t>Labels</m:t>
                      </m:r>
                      <m:r>
                        <a:rPr lang="en-IN" sz="3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IN" sz="3200" i="1"/>
                        <m:t>Learning</m:t>
                      </m:r>
                      <m:r>
                        <m:rPr>
                          <m:nor/>
                        </m:rPr>
                        <a:rPr lang="en-IN" sz="3200" i="1"/>
                        <m:t> </m:t>
                      </m:r>
                      <m:r>
                        <m:rPr>
                          <m:nor/>
                        </m:rPr>
                        <a:rPr lang="en-IN" sz="3200" i="1"/>
                        <m:t>Algorithm</m:t>
                      </m:r>
                      <m:r>
                        <a:rPr lang="en-IN" sz="3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IN" sz="3200" i="1"/>
                        <m:t>Model</m:t>
                      </m:r>
                    </m:oMath>
                  </m:oMathPara>
                </a14:m>
                <a:endParaRPr lang="en-IN" sz="3200" dirty="0"/>
              </a:p>
              <a:p>
                <a:r>
                  <a:rPr lang="en-IN" sz="3200" dirty="0"/>
                  <a:t>     Then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3200"/>
                        <m:t>Model</m:t>
                      </m:r>
                      <m:r>
                        <m:rPr>
                          <m:nor/>
                        </m:rPr>
                        <a:rPr lang="en-IN" sz="3200" i="1"/>
                        <m:t> + </m:t>
                      </m:r>
                      <m:r>
                        <m:rPr>
                          <m:nor/>
                        </m:rPr>
                        <a:rPr lang="en-IN" sz="3200" i="1"/>
                        <m:t>New</m:t>
                      </m:r>
                      <m:r>
                        <m:rPr>
                          <m:nor/>
                        </m:rPr>
                        <a:rPr lang="en-IN" sz="3200" i="1"/>
                        <m:t> </m:t>
                      </m:r>
                      <m:r>
                        <m:rPr>
                          <m:nor/>
                        </m:rPr>
                        <a:rPr lang="en-IN" sz="3200" i="1"/>
                        <m:t>Input</m:t>
                      </m:r>
                      <m:r>
                        <a:rPr lang="en-IN" sz="3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IN" sz="3200" i="1"/>
                        <m:t>Prediction</m:t>
                      </m:r>
                      <m:r>
                        <m:rPr>
                          <m:nor/>
                        </m:rPr>
                        <a:rPr lang="en-IN" sz="3200" i="1"/>
                        <m:t> (</m:t>
                      </m:r>
                      <m:r>
                        <m:rPr>
                          <m:nor/>
                        </m:rPr>
                        <a:rPr lang="en-IN" sz="3200" i="1"/>
                        <m:t>Output</m:t>
                      </m:r>
                      <m:r>
                        <m:rPr>
                          <m:nor/>
                        </m:rPr>
                        <a:rPr lang="en-IN" sz="3200" i="1"/>
                        <m:t>)</m:t>
                      </m:r>
                    </m:oMath>
                  </m:oMathPara>
                </a14:m>
                <a:endParaRPr lang="en-IN" sz="3200" dirty="0"/>
              </a:p>
              <a:p>
                <a:r>
                  <a:rPr lang="en-IN" sz="3200" dirty="0"/>
                  <a:t> Learning Algorithm: Linear Regression, Logistic Regression, Decision Trees</a:t>
                </a:r>
              </a:p>
              <a:p>
                <a:endParaRPr lang="en-IN" sz="3200" dirty="0"/>
              </a:p>
              <a:p>
                <a:pPr>
                  <a:defRPr sz="2400"/>
                </a:pPr>
                <a:endParaRPr lang="en-IN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3CA2F8-35D8-3C23-80E1-491AFAD50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731520"/>
                <a:ext cx="10070122" cy="5878532"/>
              </a:xfrm>
              <a:prstGeom prst="rect">
                <a:avLst/>
              </a:prstGeom>
              <a:blipFill>
                <a:blip r:embed="rId2"/>
                <a:stretch>
                  <a:fillRect l="-1513" r="-10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06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rPr dirty="0"/>
              <a:t>Interpretation of the 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40079" y="1371600"/>
                <a:ext cx="9887243" cy="3908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400"/>
                </a:pPr>
                <a:endParaRPr lang="en-US" dirty="0"/>
              </a:p>
              <a:p>
                <a:pPr>
                  <a:defRPr sz="2400"/>
                </a:pPr>
                <a:r>
                  <a:rPr lang="en-IN" sz="3200" b="1" dirty="0">
                    <a:solidFill>
                      <a:srgbClr val="FF0000"/>
                    </a:solidFill>
                  </a:rPr>
                  <a:t>Abstract Problem (Mathematical Definition</a:t>
                </a:r>
                <a:r>
                  <a:rPr lang="en-IN" sz="3200" dirty="0"/>
                  <a:t>)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set of 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 instances</a:t>
                </a: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set of 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possible solutions</a:t>
                </a: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abstract problem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defined as a 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relation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between these two sets.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/>
                  <a:t>Example : Sorting problem </a:t>
                </a:r>
                <a:r>
                  <a:rPr lang="en-IN" sz="2400" b="1" dirty="0"/>
                  <a:t>Statement</a:t>
                </a:r>
                <a:endParaRPr lang="en-IN" sz="2400" dirty="0"/>
              </a:p>
              <a:p>
                <a:r>
                  <a:rPr lang="en-IN" sz="2400" dirty="0"/>
                  <a:t>Given a sequence of elements (usually numbers), the task is to </a:t>
                </a:r>
                <a:r>
                  <a:rPr lang="en-IN" sz="2400" b="1" dirty="0"/>
                  <a:t>rearrange the elements in a specified order</a:t>
                </a:r>
                <a:r>
                  <a:rPr lang="en-IN" sz="2400" dirty="0"/>
                  <a:t>, typically </a:t>
                </a:r>
                <a:r>
                  <a:rPr lang="en-IN" sz="2400" b="1" dirty="0"/>
                  <a:t>ascending or descending order</a:t>
                </a:r>
                <a:r>
                  <a:rPr lang="en-IN" sz="2400" dirty="0"/>
                  <a:t>.</a:t>
                </a: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1371600"/>
                <a:ext cx="9887243" cy="3908762"/>
              </a:xfrm>
              <a:prstGeom prst="rect">
                <a:avLst/>
              </a:prstGeom>
              <a:blipFill>
                <a:blip r:embed="rId2"/>
                <a:stretch>
                  <a:fillRect l="-1541" r="-617" b="-26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Steps Involved in Solving a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087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en-US" dirty="0"/>
              <a:t>1. Understanding the problem</a:t>
            </a:r>
          </a:p>
          <a:p>
            <a:pPr>
              <a:defRPr sz="2400"/>
            </a:pPr>
            <a:r>
              <a:rPr lang="en-US" dirty="0"/>
              <a:t>2. Identify suitable data structures(</a:t>
            </a:r>
            <a:r>
              <a:rPr lang="en-IN" sz="2400" dirty="0"/>
              <a:t>A </a:t>
            </a:r>
            <a:r>
              <a:rPr lang="en-IN" sz="2400" b="1" dirty="0"/>
              <a:t>data structure</a:t>
            </a:r>
            <a:r>
              <a:rPr lang="en-IN" sz="2400" dirty="0"/>
              <a:t> is a method of </a:t>
            </a:r>
            <a:r>
              <a:rPr lang="en-IN" sz="2400" b="1" dirty="0"/>
              <a:t>organizing, storing, and managing data in a computer</a:t>
            </a:r>
            <a:r>
              <a:rPr lang="en-IN" sz="2400" dirty="0"/>
              <a:t> so that it can be </a:t>
            </a:r>
            <a:r>
              <a:rPr lang="en-IN" sz="2400" b="1" dirty="0"/>
              <a:t>accessed, processed, and modified efficiently)</a:t>
            </a: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Array : An </a:t>
            </a:r>
            <a:r>
              <a:rPr lang="en-IN" b="1" dirty="0"/>
              <a:t>array</a:t>
            </a:r>
            <a:r>
              <a:rPr lang="en-IN" dirty="0"/>
              <a:t> is a linear data structure that stores a collection of elements of the same data type in </a:t>
            </a:r>
            <a:r>
              <a:rPr lang="en-IN" b="1" dirty="0"/>
              <a:t>contiguous memory locations</a:t>
            </a:r>
            <a:r>
              <a:rPr lang="en-IN" dirty="0"/>
              <a:t>, where each element is accessed using an </a:t>
            </a:r>
            <a:r>
              <a:rPr lang="en-IN" b="1" dirty="0"/>
              <a:t>index</a:t>
            </a:r>
            <a:r>
              <a:rPr lang="en-IN" dirty="0"/>
              <a:t>.</a:t>
            </a:r>
          </a:p>
          <a:p>
            <a:r>
              <a:rPr lang="en-IN" dirty="0"/>
              <a:t> 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Stack : A </a:t>
            </a:r>
            <a:r>
              <a:rPr lang="en-IN" b="1" dirty="0"/>
              <a:t>stack</a:t>
            </a:r>
            <a:r>
              <a:rPr lang="en-IN" dirty="0"/>
              <a:t> is a linear data structure in which elements are inserted and removed according to the </a:t>
            </a:r>
            <a:r>
              <a:rPr lang="en-IN" b="1" dirty="0"/>
              <a:t>Last In First Out (LIFO)</a:t>
            </a:r>
            <a:r>
              <a:rPr lang="en-IN" dirty="0"/>
              <a:t> principle.</a:t>
            </a:r>
            <a:br>
              <a:rPr lang="en-IN" dirty="0"/>
            </a:br>
            <a:r>
              <a:rPr lang="en-IN" dirty="0"/>
              <a:t>The last element added to the stack is the first element to be removed.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 Queue : A </a:t>
            </a:r>
            <a:r>
              <a:rPr lang="en-IN" b="1" dirty="0"/>
              <a:t>queue</a:t>
            </a:r>
            <a:r>
              <a:rPr lang="en-IN" dirty="0"/>
              <a:t> is a linear data structure in which elements are inserted at the </a:t>
            </a:r>
            <a:r>
              <a:rPr lang="en-IN" b="1" dirty="0"/>
              <a:t>rear</a:t>
            </a:r>
            <a:r>
              <a:rPr lang="en-IN" dirty="0"/>
              <a:t> and removed from the </a:t>
            </a:r>
            <a:r>
              <a:rPr lang="en-IN" b="1" dirty="0"/>
              <a:t>front</a:t>
            </a:r>
            <a:r>
              <a:rPr lang="en-IN" dirty="0"/>
              <a:t>, following the </a:t>
            </a:r>
            <a:r>
              <a:rPr lang="en-IN" b="1" dirty="0"/>
              <a:t>First In First Out (FIFO)</a:t>
            </a:r>
            <a:r>
              <a:rPr lang="en-IN" dirty="0"/>
              <a:t> principle.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Linked List : A </a:t>
            </a:r>
            <a:r>
              <a:rPr lang="en-IN" b="1" dirty="0"/>
              <a:t>linked list</a:t>
            </a:r>
            <a:r>
              <a:rPr lang="en-IN" dirty="0"/>
              <a:t> is a linear data structure consisting of a sequence of </a:t>
            </a:r>
            <a:r>
              <a:rPr lang="en-IN" b="1" dirty="0"/>
              <a:t>nodes</a:t>
            </a:r>
            <a:r>
              <a:rPr lang="en-IN" dirty="0"/>
              <a:t>, where each node contains </a:t>
            </a:r>
            <a:r>
              <a:rPr lang="en-IN" b="1" dirty="0"/>
              <a:t>data</a:t>
            </a:r>
            <a:r>
              <a:rPr lang="en-IN" dirty="0"/>
              <a:t> and a </a:t>
            </a:r>
            <a:r>
              <a:rPr lang="en-IN" b="1" dirty="0"/>
              <a:t>pointer (link) to the next node</a:t>
            </a:r>
            <a:r>
              <a:rPr lang="en-IN" dirty="0"/>
              <a:t> in the list.</a:t>
            </a:r>
          </a:p>
          <a:p>
            <a:pPr>
              <a:defRPr sz="2400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0CB87-6A8E-B080-FE5C-7FA5C9369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F4ED0-A465-A321-8787-6ABEBECEC9EB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80356-947D-3A23-EA95-F4DCD29DFDB6}"/>
              </a:ext>
            </a:extLst>
          </p:cNvPr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Steps Involved in Solving a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7B64B-BC1F-B19F-9386-A01D3FEA1881}"/>
              </a:ext>
            </a:extLst>
          </p:cNvPr>
          <p:cNvSpPr txBox="1"/>
          <p:nvPr/>
        </p:nvSpPr>
        <p:spPr>
          <a:xfrm>
            <a:off x="640080" y="1371600"/>
            <a:ext cx="109087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en-US" dirty="0"/>
              <a:t>3. Develop the logic</a:t>
            </a:r>
          </a:p>
          <a:p>
            <a:pPr>
              <a:defRPr sz="2400"/>
            </a:pPr>
            <a:r>
              <a:rPr lang="en-US" dirty="0"/>
              <a:t>4. Convert logic into an algorithm(</a:t>
            </a:r>
            <a:r>
              <a:rPr lang="en-IN" sz="2400" dirty="0"/>
              <a:t>An </a:t>
            </a:r>
            <a:r>
              <a:rPr lang="en-IN" sz="2400" b="1" dirty="0"/>
              <a:t>algorithm</a:t>
            </a:r>
            <a:r>
              <a:rPr lang="en-IN" sz="2400" dirty="0"/>
              <a:t> is a </a:t>
            </a:r>
            <a:r>
              <a:rPr lang="en-IN" sz="2400" b="1" dirty="0"/>
              <a:t>finite sequence of well-defined steps</a:t>
            </a:r>
            <a:r>
              <a:rPr lang="en-IN" sz="2400" dirty="0"/>
              <a:t> used to solve a problem or perform a specific task.) </a:t>
            </a:r>
            <a:endParaRPr lang="en-US" dirty="0"/>
          </a:p>
          <a:p>
            <a:pPr>
              <a:defRPr sz="2400"/>
            </a:pPr>
            <a:r>
              <a:rPr lang="en-US" dirty="0"/>
              <a:t>5. Analyze time complexity(</a:t>
            </a:r>
            <a:r>
              <a:rPr lang="en-US" b="1" dirty="0"/>
              <a:t>Time complexity</a:t>
            </a:r>
            <a:r>
              <a:rPr lang="en-US" dirty="0"/>
              <a:t> of an algorithm is the number of </a:t>
            </a:r>
            <a:r>
              <a:rPr lang="en-US" b="1" dirty="0"/>
              <a:t>computational steps (operations)</a:t>
            </a:r>
            <a:r>
              <a:rPr lang="en-US" dirty="0"/>
              <a:t> it takes to complete, </a:t>
            </a:r>
            <a:r>
              <a:rPr lang="en-US" b="1" dirty="0"/>
              <a:t>expressed as a function of the input size</a:t>
            </a:r>
            <a:r>
              <a:rPr lang="en-US" dirty="0"/>
              <a:t>.) </a:t>
            </a:r>
          </a:p>
          <a:p>
            <a:pPr>
              <a:defRPr sz="2400"/>
            </a:pPr>
            <a:r>
              <a:rPr lang="en-US" dirty="0"/>
              <a:t>6. Prove correctness of the algorithm.</a:t>
            </a:r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r>
              <a:rPr lang="en-US" dirty="0"/>
              <a:t>Example : </a:t>
            </a:r>
            <a:r>
              <a:rPr lang="en-US" b="1" dirty="0"/>
              <a:t>Real-World Problem: How to Cook Boiled Rice</a:t>
            </a:r>
          </a:p>
          <a:p>
            <a:pPr>
              <a:defRPr sz="2400"/>
            </a:pPr>
            <a:endParaRPr lang="en-US" b="1" dirty="0"/>
          </a:p>
          <a:p>
            <a:r>
              <a:rPr lang="en-IN" sz="2400" dirty="0"/>
              <a:t>Example : Sorting problem </a:t>
            </a:r>
            <a:r>
              <a:rPr lang="en-IN" sz="2400" b="1" dirty="0"/>
              <a:t>Statement</a:t>
            </a:r>
            <a:endParaRPr lang="en-IN" sz="2400" dirty="0"/>
          </a:p>
          <a:p>
            <a:r>
              <a:rPr lang="en-IN" sz="2400" dirty="0"/>
              <a:t>Given a sequence of elements (usually numbers), the task is to </a:t>
            </a:r>
            <a:r>
              <a:rPr lang="en-IN" sz="2400" b="1" dirty="0"/>
              <a:t>rearrange the elements in a specified order</a:t>
            </a:r>
            <a:r>
              <a:rPr lang="en-IN" sz="2400" dirty="0"/>
              <a:t>, typically </a:t>
            </a:r>
            <a:r>
              <a:rPr lang="en-IN" sz="2400" b="1" dirty="0"/>
              <a:t>ascending or descending order</a:t>
            </a:r>
            <a:r>
              <a:rPr lang="en-IN" sz="2400" dirty="0"/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400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8358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EAB6E-0EAD-F60C-2294-1B57F3EF1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8DA304-CB58-49FE-3F90-B929226D0830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FE36C-6829-DECD-426C-4C7E26378A2A}"/>
              </a:ext>
            </a:extLst>
          </p:cNvPr>
          <p:cNvSpPr txBox="1"/>
          <p:nvPr/>
        </p:nvSpPr>
        <p:spPr>
          <a:xfrm>
            <a:off x="457200" y="182880"/>
            <a:ext cx="922124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rPr lang="en-US" sz="3600" b="1" dirty="0"/>
              <a:t>Naive Trial Division Algorithm for Primality Test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5670EB-056F-B873-E7E9-6D7D235AF0EF}"/>
                  </a:ext>
                </a:extLst>
              </p:cNvPr>
              <p:cNvSpPr txBox="1"/>
              <p:nvPr/>
            </p:nvSpPr>
            <p:spPr>
              <a:xfrm>
                <a:off x="640080" y="1371600"/>
                <a:ext cx="10908792" cy="3604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Given an integer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IN" dirty="0"/>
                  <a:t>, to test whether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is prime:</a:t>
                </a:r>
              </a:p>
              <a:p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IN" dirty="0"/>
                  <a:t>, it's prime.</a:t>
                </a:r>
              </a:p>
              <a:p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r>
                  <a:rPr lang="en-IN" dirty="0"/>
                  <a:t>, it's not prime.</a:t>
                </a:r>
              </a:p>
              <a:p>
                <a:r>
                  <a:rPr lang="en-IN" dirty="0"/>
                  <a:t>For each integer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dirty="0"/>
                  <a:t>from 2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ar-AE" dirty="0"/>
                  <a:t>:</a:t>
                </a:r>
              </a:p>
              <a:p>
                <a:pPr lvl="1"/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i="1"/>
                      <m:t>  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dirty="0"/>
                  <a:t>, then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is </a:t>
                </a:r>
                <a:r>
                  <a:rPr lang="en-IN" b="1" dirty="0"/>
                  <a:t>not prime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If no divisors are found,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is </a:t>
                </a:r>
                <a:r>
                  <a:rPr lang="en-IN" b="1" dirty="0"/>
                  <a:t>prime</a:t>
                </a:r>
                <a:r>
                  <a:rPr lang="en-IN" dirty="0"/>
                  <a:t>.</a:t>
                </a:r>
              </a:p>
              <a:p>
                <a:pPr>
                  <a:defRPr sz="2400"/>
                </a:pPr>
                <a:endParaRPr lang="en-US" b="1" dirty="0"/>
              </a:p>
              <a:p>
                <a:pPr>
                  <a:defRPr sz="2400"/>
                </a:pPr>
                <a:endParaRPr lang="en-US" b="1" dirty="0"/>
              </a:p>
              <a:p>
                <a:pPr>
                  <a:defRPr sz="2400"/>
                </a:pPr>
                <a:endParaRPr lang="en-US" b="1" dirty="0"/>
              </a:p>
              <a:p>
                <a:pPr>
                  <a:defRPr sz="2400"/>
                </a:pPr>
                <a:endParaRPr lang="en-US" b="1" dirty="0"/>
              </a:p>
              <a:p>
                <a:pPr>
                  <a:defRPr sz="2400"/>
                </a:pPr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5670EB-056F-B873-E7E9-6D7D235AF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371600"/>
                <a:ext cx="10908792" cy="3604064"/>
              </a:xfrm>
              <a:prstGeom prst="rect">
                <a:avLst/>
              </a:prstGeom>
              <a:blipFill>
                <a:blip r:embed="rId2"/>
                <a:stretch>
                  <a:fillRect l="-447" t="-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401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2698A-D06C-E546-3400-67351760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C75661-05F4-4701-044F-3BA022B1DA0E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9CA2C-160F-EB58-3E1D-DC5F7B87279B}"/>
              </a:ext>
            </a:extLst>
          </p:cNvPr>
          <p:cNvSpPr txBox="1"/>
          <p:nvPr/>
        </p:nvSpPr>
        <p:spPr>
          <a:xfrm>
            <a:off x="457200" y="182880"/>
            <a:ext cx="345011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rPr lang="en-US" sz="3600" b="1" dirty="0"/>
              <a:t>Time complexity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BD7483-F376-EFCC-C267-EA37234F8F31}"/>
              </a:ext>
            </a:extLst>
          </p:cNvPr>
          <p:cNvSpPr txBox="1"/>
          <p:nvPr/>
        </p:nvSpPr>
        <p:spPr>
          <a:xfrm>
            <a:off x="640080" y="1371600"/>
            <a:ext cx="1090879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en-US" dirty="0" err="1"/>
              <a:t>LinearSearch</a:t>
            </a:r>
            <a:r>
              <a:rPr lang="en-US" dirty="0"/>
              <a:t>(A, n, key)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1 to n</a:t>
            </a:r>
            <a:br>
              <a:rPr lang="en-US" dirty="0"/>
            </a:br>
            <a:r>
              <a:rPr lang="en-US" dirty="0"/>
              <a:t>if A[</a:t>
            </a:r>
            <a:r>
              <a:rPr lang="en-US" dirty="0" err="1"/>
              <a:t>i</a:t>
            </a:r>
            <a:r>
              <a:rPr lang="en-US" dirty="0"/>
              <a:t>] == key</a:t>
            </a:r>
            <a:br>
              <a:rPr lang="en-US" dirty="0"/>
            </a:br>
            <a:r>
              <a:rPr lang="en-US" dirty="0"/>
              <a:t>return </a:t>
            </a:r>
            <a:r>
              <a:rPr lang="en-US" dirty="0" err="1"/>
              <a:t>i</a:t>
            </a:r>
            <a:br>
              <a:rPr lang="en-US" dirty="0"/>
            </a:br>
            <a:r>
              <a:rPr lang="en-US" dirty="0"/>
              <a:t>return -1</a:t>
            </a:r>
          </a:p>
          <a:p>
            <a:pPr>
              <a:defRPr sz="2400"/>
            </a:pPr>
            <a:endParaRPr lang="en-US" b="1" dirty="0"/>
          </a:p>
          <a:p>
            <a:pPr>
              <a:defRPr sz="2400"/>
            </a:pPr>
            <a:r>
              <a:rPr lang="en-US" b="1" dirty="0"/>
              <a:t>Algorithm() </a:t>
            </a:r>
          </a:p>
          <a:p>
            <a:pPr>
              <a:defRPr sz="2400"/>
            </a:pPr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= 1 to n-1</a:t>
            </a:r>
            <a:br>
              <a:rPr lang="en-IN" dirty="0"/>
            </a:br>
            <a:r>
              <a:rPr lang="en-IN" dirty="0"/>
              <a:t>      for j = 1 to n-</a:t>
            </a:r>
            <a:r>
              <a:rPr lang="en-IN" dirty="0" err="1"/>
              <a:t>i</a:t>
            </a:r>
            <a:br>
              <a:rPr lang="en-IN" dirty="0"/>
            </a:br>
            <a:r>
              <a:rPr lang="en-IN" dirty="0"/>
              <a:t>       if A[j] &gt; A[j+1]</a:t>
            </a:r>
            <a:br>
              <a:rPr lang="en-IN" dirty="0"/>
            </a:br>
            <a:r>
              <a:rPr lang="en-IN" dirty="0"/>
              <a:t>      swap(A[j], A[j+1])</a:t>
            </a:r>
            <a:endParaRPr lang="en-US" b="1" dirty="0"/>
          </a:p>
          <a:p>
            <a:pPr>
              <a:defRPr sz="2400"/>
            </a:pPr>
            <a:endParaRPr lang="en-US" b="1" dirty="0"/>
          </a:p>
          <a:p>
            <a:pPr>
              <a:defRPr sz="2400"/>
            </a:pPr>
            <a:endParaRPr lang="en-US" b="1" dirty="0"/>
          </a:p>
          <a:p>
            <a:pPr>
              <a:defRPr sz="2400"/>
            </a:pPr>
            <a:endParaRPr lang="en-US" b="1" dirty="0"/>
          </a:p>
          <a:p>
            <a:pPr>
              <a:defRPr sz="2400"/>
            </a:pPr>
            <a:endParaRPr lang="en-US" b="1" dirty="0"/>
          </a:p>
          <a:p>
            <a:pPr>
              <a:defRPr sz="2400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02372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4A675-47AE-2467-6766-E59067D09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D930DA-7016-2200-F3F4-E483C40EE4EE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33481D-225A-A8C2-F5DF-AC74BCD41B68}"/>
              </a:ext>
            </a:extLst>
          </p:cNvPr>
          <p:cNvSpPr txBox="1"/>
          <p:nvPr/>
        </p:nvSpPr>
        <p:spPr>
          <a:xfrm>
            <a:off x="457200" y="182880"/>
            <a:ext cx="345011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rPr lang="en-US" sz="3600" b="1" dirty="0"/>
              <a:t>Time complexity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3A0A6F-EED1-346C-F33E-9A37950C4FF7}"/>
              </a:ext>
            </a:extLst>
          </p:cNvPr>
          <p:cNvSpPr txBox="1"/>
          <p:nvPr/>
        </p:nvSpPr>
        <p:spPr>
          <a:xfrm>
            <a:off x="640080" y="1371600"/>
            <a:ext cx="109087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en-US" dirty="0" err="1"/>
              <a:t>BinarySearch</a:t>
            </a:r>
            <a:r>
              <a:rPr lang="en-US" dirty="0"/>
              <a:t>(A, low, high, key)</a:t>
            </a:r>
            <a:br>
              <a:rPr lang="en-US" dirty="0"/>
            </a:br>
            <a:r>
              <a:rPr lang="en-US" dirty="0"/>
              <a:t>while low ≤ high</a:t>
            </a:r>
            <a:br>
              <a:rPr lang="en-US" dirty="0"/>
            </a:br>
            <a:r>
              <a:rPr lang="en-US" dirty="0"/>
              <a:t>mid = (low + high)/2</a:t>
            </a:r>
            <a:br>
              <a:rPr lang="en-US" dirty="0"/>
            </a:br>
            <a:r>
              <a:rPr lang="en-US" dirty="0"/>
              <a:t>if A[mid] == key</a:t>
            </a:r>
            <a:br>
              <a:rPr lang="en-US" dirty="0"/>
            </a:br>
            <a:r>
              <a:rPr lang="en-US" dirty="0"/>
              <a:t>return mid</a:t>
            </a:r>
            <a:br>
              <a:rPr lang="en-US" dirty="0"/>
            </a:br>
            <a:r>
              <a:rPr lang="en-US" dirty="0"/>
              <a:t>else if key &lt; A[mid]</a:t>
            </a:r>
            <a:br>
              <a:rPr lang="en-US" dirty="0"/>
            </a:br>
            <a:r>
              <a:rPr lang="en-US" dirty="0"/>
              <a:t>high = mid - 1</a:t>
            </a:r>
            <a:br>
              <a:rPr lang="en-US" dirty="0"/>
            </a:br>
            <a:r>
              <a:rPr lang="en-US" dirty="0"/>
              <a:t>else</a:t>
            </a:r>
            <a:br>
              <a:rPr lang="en-US" dirty="0"/>
            </a:br>
            <a:r>
              <a:rPr lang="en-US" dirty="0"/>
              <a:t>low = mid + 1</a:t>
            </a:r>
            <a:endParaRPr lang="en-US" b="1" dirty="0"/>
          </a:p>
          <a:p>
            <a:pPr>
              <a:defRPr sz="2400"/>
            </a:pPr>
            <a:endParaRPr lang="en-US" b="1" dirty="0"/>
          </a:p>
          <a:p>
            <a:pPr>
              <a:defRPr sz="2400"/>
            </a:pPr>
            <a:endParaRPr lang="en-US" b="1" dirty="0"/>
          </a:p>
          <a:p>
            <a:pPr>
              <a:defRPr sz="2400"/>
            </a:pPr>
            <a:endParaRPr lang="en-US" b="1" dirty="0"/>
          </a:p>
          <a:p>
            <a:pPr>
              <a:defRPr sz="2400"/>
            </a:pPr>
            <a:endParaRPr lang="en-US" b="1" dirty="0"/>
          </a:p>
          <a:p>
            <a:pPr>
              <a:defRPr sz="2400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37435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5F7B7-A3EF-891D-B34B-4E243A13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031791-A8C2-EB9A-61BB-C6FAE44B0911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DC5662-325A-2A2B-3B72-AED164C71BD8}"/>
              </a:ext>
            </a:extLst>
          </p:cNvPr>
          <p:cNvSpPr txBox="1"/>
          <p:nvPr/>
        </p:nvSpPr>
        <p:spPr>
          <a:xfrm>
            <a:off x="457200" y="182880"/>
            <a:ext cx="345011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rPr lang="en-US" sz="3600" b="1" dirty="0"/>
              <a:t>Time complexity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51E10-6164-A84D-18A8-538E4809C8EA}"/>
              </a:ext>
            </a:extLst>
          </p:cNvPr>
          <p:cNvSpPr txBox="1"/>
          <p:nvPr/>
        </p:nvSpPr>
        <p:spPr>
          <a:xfrm>
            <a:off x="640080" y="1371600"/>
            <a:ext cx="109087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= 1 to n</a:t>
            </a:r>
            <a:br>
              <a:rPr lang="en-IN"/>
            </a:br>
            <a:r>
              <a:rPr lang="en-IN"/>
              <a:t>       for </a:t>
            </a:r>
            <a:r>
              <a:rPr lang="en-IN" dirty="0"/>
              <a:t>j = 1 to n</a:t>
            </a:r>
            <a:br>
              <a:rPr lang="en-IN"/>
            </a:br>
            <a:r>
              <a:rPr lang="en-IN"/>
              <a:t>            for </a:t>
            </a:r>
            <a:r>
              <a:rPr lang="en-IN" dirty="0"/>
              <a:t>k = 1 to n</a:t>
            </a:r>
            <a:br>
              <a:rPr lang="en-IN"/>
            </a:br>
            <a:r>
              <a:rPr lang="en-IN"/>
              <a:t>                C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][j] += A[</a:t>
            </a:r>
            <a:r>
              <a:rPr lang="en-IN" dirty="0" err="1"/>
              <a:t>i</a:t>
            </a:r>
            <a:r>
              <a:rPr lang="en-IN" dirty="0"/>
              <a:t>][k] * B[k][j]</a:t>
            </a:r>
            <a:endParaRPr lang="en-US" b="1" dirty="0"/>
          </a:p>
          <a:p>
            <a:pPr>
              <a:defRPr sz="2400"/>
            </a:pPr>
            <a:endParaRPr lang="en-US" b="1" dirty="0"/>
          </a:p>
          <a:p>
            <a:pPr>
              <a:defRPr sz="2400"/>
            </a:pPr>
            <a:endParaRPr lang="en-US" b="1" dirty="0"/>
          </a:p>
          <a:p>
            <a:pPr>
              <a:defRPr sz="2400"/>
            </a:pPr>
            <a:endParaRPr lang="en-US" b="1" dirty="0"/>
          </a:p>
          <a:p>
            <a:pPr>
              <a:defRPr sz="2400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51886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699</Words>
  <Application>Microsoft Office PowerPoint</Application>
  <PresentationFormat>Custom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UMMITY SRINIVASA RAO</dc:creator>
  <cp:keywords/>
  <dc:description>generated using python-pptx</dc:description>
  <cp:lastModifiedBy>UMMITY SRINIVASA RAO</cp:lastModifiedBy>
  <cp:revision>8</cp:revision>
  <dcterms:created xsi:type="dcterms:W3CDTF">2013-01-27T09:14:16Z</dcterms:created>
  <dcterms:modified xsi:type="dcterms:W3CDTF">2026-03-14T03:18:35Z</dcterms:modified>
  <cp:category/>
</cp:coreProperties>
</file>
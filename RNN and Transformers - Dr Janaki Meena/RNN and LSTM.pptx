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handoutMasterIdLst>
    <p:handoutMasterId r:id="rId52"/>
  </p:handoutMasterIdLst>
  <p:sldIdLst>
    <p:sldId id="256" r:id="rId3"/>
    <p:sldId id="257" r:id="rId4"/>
    <p:sldId id="258" r:id="rId5"/>
    <p:sldId id="259" r:id="rId6"/>
    <p:sldId id="260" r:id="rId7"/>
    <p:sldId id="261" r:id="rId8"/>
    <p:sldId id="262" r:id="rId9"/>
    <p:sldId id="263" r:id="rId10"/>
    <p:sldId id="264" r:id="rId11"/>
    <p:sldId id="265" r:id="rId12"/>
    <p:sldId id="266" r:id="rId13"/>
    <p:sldId id="304" r:id="rId14"/>
    <p:sldId id="285" r:id="rId15"/>
    <p:sldId id="286" r:id="rId16"/>
    <p:sldId id="305" r:id="rId17"/>
    <p:sldId id="287" r:id="rId18"/>
    <p:sldId id="288" r:id="rId19"/>
    <p:sldId id="289" r:id="rId20"/>
    <p:sldId id="267" r:id="rId21"/>
    <p:sldId id="268" r:id="rId22"/>
    <p:sldId id="269" r:id="rId23"/>
    <p:sldId id="270" r:id="rId24"/>
    <p:sldId id="271" r:id="rId25"/>
    <p:sldId id="272" r:id="rId26"/>
    <p:sldId id="281" r:id="rId27"/>
    <p:sldId id="273" r:id="rId28"/>
    <p:sldId id="282" r:id="rId29"/>
    <p:sldId id="274" r:id="rId30"/>
    <p:sldId id="283" r:id="rId31"/>
    <p:sldId id="275" r:id="rId32"/>
    <p:sldId id="276" r:id="rId33"/>
    <p:sldId id="277" r:id="rId34"/>
    <p:sldId id="291" r:id="rId35"/>
    <p:sldId id="292" r:id="rId36"/>
    <p:sldId id="293" r:id="rId37"/>
    <p:sldId id="294" r:id="rId38"/>
    <p:sldId id="295" r:id="rId39"/>
    <p:sldId id="296" r:id="rId40"/>
    <p:sldId id="278" r:id="rId41"/>
    <p:sldId id="279" r:id="rId42"/>
    <p:sldId id="280" r:id="rId43"/>
    <p:sldId id="297" r:id="rId44"/>
    <p:sldId id="299" r:id="rId45"/>
    <p:sldId id="298" r:id="rId46"/>
    <p:sldId id="290" r:id="rId47"/>
    <p:sldId id="302" r:id="rId48"/>
    <p:sldId id="300" r:id="rId49"/>
    <p:sldId id="303" r:id="rId50"/>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handoutMaster" Target="handoutMasters/handoutMaster1.xml"/><Relationship Id="rId51" Type="http://schemas.openxmlformats.org/officeDocument/2006/relationships/notesMaster" Target="notesMasters/notesMaster1.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endParaRPr lang="zh-CN" altLang="en-US" dirty="0">
              <a:sym typeface="+mn-ea"/>
            </a:endParaRPr>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endParaRPr lang="zh-CN" altLang="en-US" dirty="0">
              <a:sym typeface="+mn-ea"/>
            </a:endParaRP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endParaRPr lang="zh-CN" altLang="en-US" dirty="0">
              <a:sym typeface="+mn-ea"/>
            </a:endParaRP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endParaRPr lang="zh-CN" altLang="en-US" dirty="0">
              <a:sym typeface="+mn-ea"/>
            </a:endParaRPr>
          </a:p>
          <a:p>
            <a:pPr lvl="1"/>
            <a:r>
              <a:rPr lang="zh-CN" altLang="en-US" dirty="0"/>
              <a:t>Second level</a:t>
            </a:r>
            <a:endParaRPr lang="zh-CN" altLang="en-US" dirty="0"/>
          </a:p>
          <a:p>
            <a:pPr lvl="2"/>
            <a:r>
              <a:rPr lang="zh-CN" altLang="en-US" dirty="0"/>
              <a:t>Third level</a:t>
            </a:r>
            <a:endParaRPr lang="zh-CN" altLang="en-US" dirty="0"/>
          </a:p>
          <a:p>
            <a:pPr lvl="3"/>
            <a:r>
              <a:rPr lang="zh-CN" altLang="en-US" dirty="0"/>
              <a:t>Fourth level</a:t>
            </a:r>
            <a:endParaRPr lang="zh-CN" altLang="en-US" dirty="0"/>
          </a:p>
          <a:p>
            <a:pPr lvl="4"/>
            <a:r>
              <a:rPr lang="zh-CN" altLang="en-US" dirty="0"/>
              <a:t>Fifth level</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a:solidFill>
                  <a:srgbClr val="FF0000"/>
                </a:solidFill>
              </a:rPr>
              <a:t>RNNs and LSTMs</a:t>
            </a:r>
            <a:endParaRPr lang="en-US" altLang="zh-CN">
              <a:solidFill>
                <a:srgbClr val="FF0000"/>
              </a:solidFill>
            </a:endParaRPr>
          </a:p>
        </p:txBody>
      </p:sp>
      <p:sp>
        <p:nvSpPr>
          <p:cNvPr id="5" name="副标题 4"/>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Recurrent Neural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p>
            <a:pPr>
              <a:lnSpc>
                <a:spcPct val="120000"/>
              </a:lnSpc>
            </a:pPr>
            <a:r>
              <a:rPr lang="en-US" sz="3600">
                <a:solidFill>
                  <a:srgbClr val="002060"/>
                </a:solidFill>
              </a:rPr>
              <a:t>Humans don’t start their thinking from scratch every second. </a:t>
            </a:r>
            <a:endParaRPr lang="en-US" sz="3600">
              <a:solidFill>
                <a:srgbClr val="002060"/>
              </a:solidFill>
            </a:endParaRPr>
          </a:p>
          <a:p>
            <a:pPr>
              <a:lnSpc>
                <a:spcPct val="120000"/>
              </a:lnSpc>
            </a:pPr>
            <a:r>
              <a:rPr lang="en-US" sz="3600">
                <a:solidFill>
                  <a:srgbClr val="002060"/>
                </a:solidFill>
              </a:rPr>
              <a:t>understand each word based on your understanding of previous words</a:t>
            </a:r>
            <a:endParaRPr lang="en-US" sz="3600">
              <a:solidFill>
                <a:srgbClr val="002060"/>
              </a:solidFill>
            </a:endParaRPr>
          </a:p>
          <a:p>
            <a:pPr>
              <a:lnSpc>
                <a:spcPct val="120000"/>
              </a:lnSpc>
            </a:pPr>
            <a:r>
              <a:rPr lang="en-US" sz="3600">
                <a:solidFill>
                  <a:srgbClr val="002060"/>
                </a:solidFill>
              </a:rPr>
              <a:t>thoughts have persistence</a:t>
            </a:r>
            <a:endParaRPr lang="en-US" sz="3600">
              <a:solidFill>
                <a:srgbClr val="002060"/>
              </a:solidFill>
            </a:endParaRPr>
          </a:p>
          <a:p>
            <a:pPr>
              <a:lnSpc>
                <a:spcPct val="120000"/>
              </a:lnSpc>
            </a:pPr>
            <a:r>
              <a:rPr lang="en-US" sz="3600">
                <a:solidFill>
                  <a:srgbClr val="002060"/>
                </a:solidFill>
              </a:rPr>
              <a:t>Traditional neural networks can’t do this, and it seems like a major shortcoming</a:t>
            </a:r>
            <a:endParaRPr lang="en-US" sz="3600">
              <a:solidFill>
                <a:srgbClr val="00206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Recurrent Neural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They are networks with loops in them, allowing information to persist.</a:t>
            </a:r>
            <a:endParaRPr lang="en-US" sz="3600">
              <a:solidFill>
                <a:srgbClr val="002060"/>
              </a:solidFill>
            </a:endParaRPr>
          </a:p>
          <a:p>
            <a:pPr>
              <a:lnSpc>
                <a:spcPct val="110000"/>
              </a:lnSpc>
            </a:pPr>
            <a:endParaRPr lang="en-US" sz="3600">
              <a:solidFill>
                <a:srgbClr val="002060"/>
              </a:solidFill>
            </a:endParaRPr>
          </a:p>
          <a:p>
            <a:pPr>
              <a:lnSpc>
                <a:spcPct val="110000"/>
              </a:lnSpc>
            </a:pPr>
            <a:endParaRPr lang="en-US" sz="3600">
              <a:solidFill>
                <a:srgbClr val="002060"/>
              </a:solidFill>
            </a:endParaRPr>
          </a:p>
          <a:p>
            <a:pPr>
              <a:lnSpc>
                <a:spcPct val="110000"/>
              </a:lnSpc>
            </a:pPr>
            <a:endParaRPr lang="en-US" sz="3600">
              <a:solidFill>
                <a:srgbClr val="002060"/>
              </a:solidFill>
            </a:endParaRPr>
          </a:p>
          <a:p>
            <a:pPr>
              <a:lnSpc>
                <a:spcPct val="110000"/>
              </a:lnSpc>
            </a:pPr>
            <a:r>
              <a:rPr lang="en-US" sz="3600">
                <a:solidFill>
                  <a:srgbClr val="002060"/>
                </a:solidFill>
              </a:rPr>
              <a:t>a chunk of neural network, A, looks at some input xt and outputs a value ht</a:t>
            </a:r>
            <a:endParaRPr lang="en-US" sz="3600">
              <a:solidFill>
                <a:srgbClr val="002060"/>
              </a:solidFill>
            </a:endParaRPr>
          </a:p>
          <a:p>
            <a:pPr>
              <a:lnSpc>
                <a:spcPct val="110000"/>
              </a:lnSpc>
            </a:pPr>
            <a:r>
              <a:rPr lang="en-US" sz="3600">
                <a:solidFill>
                  <a:srgbClr val="002060"/>
                </a:solidFill>
              </a:rPr>
              <a:t>loop allows information to be passed from one step of the network to the next</a:t>
            </a: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5984875" y="1478915"/>
            <a:ext cx="2179955" cy="28244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Recurrent Neural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Can be thought of as multiple copies of the same network, each passing a message to a successor.</a:t>
            </a:r>
            <a:endParaRPr lang="en-US" sz="3600">
              <a:solidFill>
                <a:srgbClr val="002060"/>
              </a:solidFill>
            </a:endParaRPr>
          </a:p>
          <a:p>
            <a:pPr>
              <a:lnSpc>
                <a:spcPct val="110000"/>
              </a:lnSpc>
            </a:pPr>
            <a:r>
              <a:rPr lang="en-US" sz="3600">
                <a:solidFill>
                  <a:srgbClr val="002060"/>
                </a:solidFill>
              </a:rPr>
              <a:t>we unroll the loop</a:t>
            </a:r>
            <a:endParaRPr lang="en-US" sz="3600">
              <a:solidFill>
                <a:srgbClr val="002060"/>
              </a:solidFill>
            </a:endParaRPr>
          </a:p>
        </p:txBody>
      </p:sp>
      <p:pic>
        <p:nvPicPr>
          <p:cNvPr id="5" name="Picture 4"/>
          <p:cNvPicPr>
            <a:picLocks noChangeAspect="1"/>
          </p:cNvPicPr>
          <p:nvPr/>
        </p:nvPicPr>
        <p:blipFill>
          <a:blip r:embed="rId1"/>
          <a:stretch>
            <a:fillRect/>
          </a:stretch>
        </p:blipFill>
        <p:spPr>
          <a:xfrm>
            <a:off x="889635" y="2946400"/>
            <a:ext cx="10201275" cy="383857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Look at recent information to perform present task</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To predict the last word in “the clouds are in the sky,”</a:t>
            </a:r>
            <a:endParaRPr lang="en-US" sz="3600">
              <a:solidFill>
                <a:srgbClr val="002060"/>
              </a:solidFill>
            </a:endParaRPr>
          </a:p>
          <a:p>
            <a:pPr>
              <a:lnSpc>
                <a:spcPct val="110000"/>
              </a:lnSpc>
            </a:pPr>
            <a:r>
              <a:rPr lang="en-US" sz="3600">
                <a:solidFill>
                  <a:srgbClr val="002060"/>
                </a:solidFill>
              </a:rPr>
              <a:t>Gap between the relevant information and the place that it’s needed is small</a:t>
            </a: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1497965" y="2962275"/>
            <a:ext cx="7448550" cy="3257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Need more context</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To predict the last word in the text “I grew up in France… I speak fluent French.”</a:t>
            </a:r>
            <a:endParaRPr lang="en-US" sz="3600">
              <a:solidFill>
                <a:srgbClr val="002060"/>
              </a:solidFill>
            </a:endParaRPr>
          </a:p>
          <a:p>
            <a:pPr>
              <a:lnSpc>
                <a:spcPct val="110000"/>
              </a:lnSpc>
            </a:pPr>
            <a:r>
              <a:rPr lang="en-US" sz="3600">
                <a:solidFill>
                  <a:srgbClr val="002060"/>
                </a:solidFill>
              </a:rPr>
              <a:t>Gap between the relevant information and the point where it is needed to become very large</a:t>
            </a:r>
            <a:endParaRPr lang="en-US" sz="3600">
              <a:solidFill>
                <a:srgbClr val="002060"/>
              </a:solidFill>
            </a:endParaRPr>
          </a:p>
          <a:p>
            <a:pPr>
              <a:lnSpc>
                <a:spcPct val="110000"/>
              </a:lnSpc>
            </a:pPr>
            <a:r>
              <a:rPr lang="en-US" sz="3600">
                <a:solidFill>
                  <a:srgbClr val="002060"/>
                </a:solidFill>
              </a:rPr>
              <a:t>RNNs become unable to learn to connect the information</a:t>
            </a:r>
            <a:endParaRPr lang="en-US" sz="3600">
              <a:solidFill>
                <a:srgbClr val="002060"/>
              </a:solidFill>
            </a:endParaRPr>
          </a:p>
        </p:txBody>
      </p:sp>
      <p:pic>
        <p:nvPicPr>
          <p:cNvPr id="5" name="Picture 4"/>
          <p:cNvPicPr>
            <a:picLocks noChangeAspect="1"/>
          </p:cNvPicPr>
          <p:nvPr/>
        </p:nvPicPr>
        <p:blipFill>
          <a:blip r:embed="rId1"/>
          <a:stretch>
            <a:fillRect/>
          </a:stretch>
        </p:blipFill>
        <p:spPr>
          <a:xfrm>
            <a:off x="875665" y="4098290"/>
            <a:ext cx="9200515" cy="28384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Need more context</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RNNs are absolutely capable of handling such “long-term dependencies.” </a:t>
            </a:r>
            <a:endParaRPr lang="en-US" sz="3600">
              <a:solidFill>
                <a:srgbClr val="002060"/>
              </a:solidFill>
            </a:endParaRPr>
          </a:p>
          <a:p>
            <a:pPr>
              <a:lnSpc>
                <a:spcPct val="110000"/>
              </a:lnSpc>
            </a:pPr>
            <a:r>
              <a:rPr lang="en-US" sz="3600">
                <a:solidFill>
                  <a:srgbClr val="002060"/>
                </a:solidFill>
              </a:rPr>
              <a:t>A human could carefully pick parameters for them to solve toy problems of this form. </a:t>
            </a:r>
            <a:endParaRPr lang="en-US" sz="3600">
              <a:solidFill>
                <a:srgbClr val="002060"/>
              </a:solidFill>
            </a:endParaRPr>
          </a:p>
          <a:p>
            <a:pPr>
              <a:lnSpc>
                <a:spcPct val="110000"/>
              </a:lnSpc>
            </a:pPr>
            <a:r>
              <a:rPr lang="en-US" sz="3600">
                <a:solidFill>
                  <a:srgbClr val="002060"/>
                </a:solidFill>
              </a:rPr>
              <a:t>Sadly, in practice, RNNs don’t seem to be able to learn them. </a:t>
            </a:r>
            <a:endParaRPr lang="en-US" sz="3600">
              <a:solidFill>
                <a:srgbClr val="002060"/>
              </a:solidFill>
            </a:endParaRPr>
          </a:p>
          <a:p>
            <a:pPr>
              <a:lnSpc>
                <a:spcPct val="110000"/>
              </a:lnSpc>
            </a:pPr>
            <a:r>
              <a:rPr lang="en-US" sz="3600">
                <a:solidFill>
                  <a:srgbClr val="002060"/>
                </a:solidFill>
              </a:rPr>
              <a:t>The problem was explored in depth by Hochreiter (1991) [German] and Bengio, et al. (1994), who found some pretty fundamental reasons why it might be difficult.</a:t>
            </a:r>
            <a:endParaRPr lang="en-US" sz="3600">
              <a:solidFill>
                <a:srgbClr val="00206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LSTM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Special kind of RNN, capable of learning long-term dependencies</a:t>
            </a:r>
            <a:endParaRPr lang="en-US" sz="3600">
              <a:solidFill>
                <a:srgbClr val="002060"/>
              </a:solidFill>
            </a:endParaRPr>
          </a:p>
          <a:p>
            <a:pPr>
              <a:lnSpc>
                <a:spcPct val="110000"/>
              </a:lnSpc>
            </a:pPr>
            <a:r>
              <a:rPr lang="en-US" sz="3600">
                <a:solidFill>
                  <a:srgbClr val="002060"/>
                </a:solidFill>
              </a:rPr>
              <a:t>Introduced by Hochreiter &amp; Schmidhuber (1997), and were refined and popularized by many people in following work</a:t>
            </a:r>
            <a:endParaRPr lang="en-US" sz="3600">
              <a:solidFill>
                <a:srgbClr val="002060"/>
              </a:solidFill>
            </a:endParaRPr>
          </a:p>
          <a:p>
            <a:pPr>
              <a:lnSpc>
                <a:spcPct val="110000"/>
              </a:lnSpc>
            </a:pPr>
            <a:r>
              <a:rPr lang="en-US" sz="3600">
                <a:solidFill>
                  <a:srgbClr val="002060"/>
                </a:solidFill>
              </a:rPr>
              <a:t>Explicitly designed to avoid the long-term dependency problem</a:t>
            </a:r>
            <a:endParaRPr lang="en-US" sz="3600">
              <a:solidFill>
                <a:srgbClr val="002060"/>
              </a:solidFill>
            </a:endParaRPr>
          </a:p>
          <a:p>
            <a:pPr>
              <a:lnSpc>
                <a:spcPct val="110000"/>
              </a:lnSpc>
            </a:pPr>
            <a:r>
              <a:rPr lang="en-US" sz="3600">
                <a:solidFill>
                  <a:srgbClr val="002060"/>
                </a:solidFill>
              </a:rPr>
              <a:t>Remembering information for long periods of time is practically their default behavior, not something they struggle to learn!</a:t>
            </a:r>
            <a:endParaRPr lang="en-US" sz="3600">
              <a:solidFill>
                <a:srgbClr val="00206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LSTM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In standard RNNs, the repeating module will have a very simple structure, such as a single tanh layer</a:t>
            </a: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839470" y="2289810"/>
            <a:ext cx="10302875" cy="3855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LSTM Networks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LSTMs also have this chain like structure, but with </a:t>
            </a:r>
            <a:r>
              <a:rPr lang="en-US" sz="3600">
                <a:solidFill>
                  <a:srgbClr val="002060"/>
                </a:solidFill>
                <a:sym typeface="+mn-ea"/>
              </a:rPr>
              <a:t>different </a:t>
            </a:r>
            <a:r>
              <a:rPr lang="en-US" sz="3600">
                <a:solidFill>
                  <a:srgbClr val="002060"/>
                </a:solidFill>
              </a:rPr>
              <a:t> repeating modules, there are four, interacting in a very special way.</a:t>
            </a:r>
            <a:endParaRPr lang="en-US" sz="3600">
              <a:solidFill>
                <a:srgbClr val="002060"/>
              </a:solidFill>
            </a:endParaRPr>
          </a:p>
        </p:txBody>
      </p:sp>
      <p:pic>
        <p:nvPicPr>
          <p:cNvPr id="5" name="Picture 4"/>
          <p:cNvPicPr>
            <a:picLocks noChangeAspect="1"/>
          </p:cNvPicPr>
          <p:nvPr/>
        </p:nvPicPr>
        <p:blipFill>
          <a:blip r:embed="rId1"/>
          <a:stretch>
            <a:fillRect/>
          </a:stretch>
        </p:blipFill>
        <p:spPr>
          <a:xfrm>
            <a:off x="451485" y="2258060"/>
            <a:ext cx="11649075" cy="43770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p>
            <a:pPr algn="ctr"/>
            <a:r>
              <a:rPr lang="en-US" sz="3200">
                <a:solidFill>
                  <a:srgbClr val="FF0000"/>
                </a:solidFill>
              </a:rPr>
              <a:t>Memories in LSTM</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long-term memory (Ct) is what the model remembers across time, and short-term memory (ht) is what the model uses and outputs at the current step.</a:t>
            </a:r>
            <a:endParaRPr lang="en-US" sz="3600">
              <a:solidFill>
                <a:srgbClr val="002060"/>
              </a:solidFill>
            </a:endParaRPr>
          </a:p>
          <a:p>
            <a:pPr>
              <a:lnSpc>
                <a:spcPct val="130000"/>
              </a:lnSpc>
            </a:pPr>
            <a:r>
              <a:rPr lang="en-US" sz="3600">
                <a:solidFill>
                  <a:srgbClr val="002060"/>
                </a:solidFill>
              </a:rPr>
              <a:t>Cell state Ct → Knowledge in your brain</a:t>
            </a:r>
            <a:endParaRPr lang="en-US" sz="3600">
              <a:solidFill>
                <a:srgbClr val="002060"/>
              </a:solidFill>
            </a:endParaRPr>
          </a:p>
          <a:p>
            <a:pPr>
              <a:lnSpc>
                <a:spcPct val="130000"/>
              </a:lnSpc>
            </a:pPr>
            <a:r>
              <a:rPr lang="en-US" sz="3600">
                <a:solidFill>
                  <a:srgbClr val="002060"/>
                </a:solidFill>
              </a:rPr>
              <a:t>Hidden state ht → What you use in exams</a:t>
            </a:r>
            <a:endParaRPr lang="en-US" sz="3600">
              <a:solidFill>
                <a:srgbClr val="00206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p>
            <a:pPr algn="ctr"/>
            <a:r>
              <a:rPr lang="en-US" sz="3200">
                <a:solidFill>
                  <a:srgbClr val="FF0000"/>
                </a:solidFill>
              </a:rPr>
              <a:t>Memories in LSTM</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20000"/>
              </a:lnSpc>
            </a:pPr>
            <a:r>
              <a:rPr lang="en-US" sz="3600">
                <a:solidFill>
                  <a:srgbClr val="002060"/>
                </a:solidFill>
              </a:rPr>
              <a:t>In an LSTM, each gate (forget, input, output, and candidate) has its own distinct weight matrices </a:t>
            </a:r>
            <a:endParaRPr lang="en-US" sz="3600">
              <a:solidFill>
                <a:srgbClr val="002060"/>
              </a:solidFill>
            </a:endParaRPr>
          </a:p>
          <a:p>
            <a:pPr>
              <a:lnSpc>
                <a:spcPct val="120000"/>
              </a:lnSpc>
            </a:pPr>
            <a:r>
              <a:rPr lang="en-US" sz="3600">
                <a:solidFill>
                  <a:srgbClr val="002060"/>
                </a:solidFill>
              </a:rPr>
              <a:t>W, U, and bias b, which are learned independently.</a:t>
            </a:r>
            <a:endParaRPr lang="en-US" sz="3600">
              <a:solidFill>
                <a:srgbClr val="002060"/>
              </a:solidFill>
            </a:endParaRPr>
          </a:p>
          <a:p>
            <a:pPr>
              <a:lnSpc>
                <a:spcPct val="120000"/>
              </a:lnSpc>
            </a:pPr>
            <a:r>
              <a:rPr lang="en-US" sz="3600">
                <a:solidFill>
                  <a:srgbClr val="002060"/>
                </a:solidFill>
              </a:rPr>
              <a:t>W - weights the current input</a:t>
            </a:r>
            <a:endParaRPr lang="en-US" sz="3600">
              <a:solidFill>
                <a:srgbClr val="002060"/>
              </a:solidFill>
            </a:endParaRPr>
          </a:p>
          <a:p>
            <a:pPr>
              <a:lnSpc>
                <a:spcPct val="120000"/>
              </a:lnSpc>
            </a:pPr>
            <a:r>
              <a:rPr lang="en-US" sz="3600">
                <a:solidFill>
                  <a:srgbClr val="002060"/>
                </a:solidFill>
              </a:rPr>
              <a:t>U - weights the previous hidden state (recurrent)</a:t>
            </a:r>
            <a:endParaRPr lang="en-US" sz="3600">
              <a:solidFill>
                <a:srgbClr val="002060"/>
              </a:solidFill>
            </a:endParaRPr>
          </a:p>
          <a:p>
            <a:pPr>
              <a:lnSpc>
                <a:spcPct val="120000"/>
              </a:lnSpc>
            </a:pPr>
            <a:r>
              <a:rPr lang="en-US" sz="3600">
                <a:solidFill>
                  <a:srgbClr val="002060"/>
                </a:solidFill>
              </a:rPr>
              <a:t>b - bias term</a:t>
            </a:r>
            <a:endParaRPr lang="en-US" sz="3600">
              <a:solidFill>
                <a:srgbClr val="002060"/>
              </a:solidFill>
            </a:endParaRPr>
          </a:p>
          <a:p>
            <a:pPr>
              <a:lnSpc>
                <a:spcPct val="120000"/>
              </a:lnSpc>
            </a:pPr>
            <a:r>
              <a:rPr lang="en-US" sz="3600">
                <a:solidFill>
                  <a:srgbClr val="002060"/>
                </a:solidFill>
              </a:rPr>
              <a:t>together they compute the gates and candidate memory at each time step</a:t>
            </a:r>
            <a:endParaRPr lang="en-US" sz="3600">
              <a:solidFill>
                <a:srgbClr val="00206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p>
            <a:pPr algn="ctr"/>
            <a:r>
              <a:rPr lang="en-US" sz="3200">
                <a:solidFill>
                  <a:srgbClr val="FF0000"/>
                </a:solidFill>
              </a:rPr>
              <a:t>Classic RNNs</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Memory = output</a:t>
            </a:r>
            <a:endParaRPr lang="en-US" sz="3600">
              <a:solidFill>
                <a:srgbClr val="002060"/>
              </a:solidFill>
            </a:endParaRPr>
          </a:p>
          <a:p>
            <a:pPr>
              <a:lnSpc>
                <a:spcPct val="130000"/>
              </a:lnSpc>
            </a:pPr>
            <a:r>
              <a:rPr lang="en-US" sz="3600">
                <a:solidFill>
                  <a:srgbClr val="002060"/>
                </a:solidFill>
              </a:rPr>
              <a:t>Everything gets overwritten</a:t>
            </a:r>
            <a:endParaRPr lang="en-US" sz="3600">
              <a:solidFill>
                <a:srgbClr val="002060"/>
              </a:solidFill>
            </a:endParaRPr>
          </a:p>
          <a:p>
            <a:pPr>
              <a:lnSpc>
                <a:spcPct val="130000"/>
              </a:lnSpc>
            </a:pPr>
            <a:r>
              <a:rPr lang="en-US" sz="3600">
                <a:solidFill>
                  <a:srgbClr val="002060"/>
                </a:solidFill>
              </a:rPr>
              <a:t>Long dependencies break</a:t>
            </a:r>
            <a:endParaRPr lang="en-US" sz="3600">
              <a:solidFill>
                <a:srgbClr val="002060"/>
              </a:solidFill>
            </a:endParaRPr>
          </a:p>
          <a:p>
            <a:pPr>
              <a:lnSpc>
                <a:spcPct val="130000"/>
              </a:lnSpc>
            </a:pPr>
            <a:r>
              <a:rPr lang="en-US" sz="3600">
                <a:solidFill>
                  <a:srgbClr val="002060"/>
                </a:solidFill>
              </a:rPr>
              <a:t>Long-term memory stores knowledge, short-term memory exposes a filtered view of it.</a:t>
            </a:r>
            <a:endParaRPr lang="en-US" sz="3600">
              <a:solidFill>
                <a:srgbClr val="00206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normAutofit/>
          </a:bodyPr>
          <a:p>
            <a:pPr algn="ctr"/>
            <a:r>
              <a:rPr lang="en-US" sz="3200">
                <a:solidFill>
                  <a:srgbClr val="FF0000"/>
                </a:solidFill>
              </a:rPr>
              <a:t>Long-term memory: the cell state Ct</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A conveyor belt that runs almost unchanged</a:t>
            </a:r>
            <a:endParaRPr lang="en-US" sz="3600">
              <a:solidFill>
                <a:srgbClr val="002060"/>
              </a:solidFill>
            </a:endParaRPr>
          </a:p>
          <a:p>
            <a:pPr>
              <a:lnSpc>
                <a:spcPct val="130000"/>
              </a:lnSpc>
            </a:pPr>
            <a:r>
              <a:rPr lang="en-US" sz="3600">
                <a:solidFill>
                  <a:srgbClr val="002060"/>
                </a:solidFill>
              </a:rPr>
              <a:t>stores stable, slowly changing information</a:t>
            </a:r>
            <a:endParaRPr lang="en-US" sz="3600">
              <a:solidFill>
                <a:srgbClr val="002060"/>
              </a:solidFill>
            </a:endParaRPr>
          </a:p>
          <a:p>
            <a:pPr>
              <a:lnSpc>
                <a:spcPct val="130000"/>
              </a:lnSpc>
            </a:pPr>
            <a:r>
              <a:rPr lang="en-US" sz="3600">
                <a:solidFill>
                  <a:srgbClr val="002060"/>
                </a:solidFill>
              </a:rPr>
              <a:t>Updated additively, not overwritten</a:t>
            </a:r>
            <a:endParaRPr lang="en-US" sz="3600">
              <a:solidFill>
                <a:srgbClr val="002060"/>
              </a:solidFill>
            </a:endParaRPr>
          </a:p>
          <a:p>
            <a:pPr>
              <a:lnSpc>
                <a:spcPct val="130000"/>
              </a:lnSpc>
            </a:pPr>
            <a:r>
              <a:rPr lang="en-US" sz="3600">
                <a:solidFill>
                  <a:srgbClr val="002060"/>
                </a:solidFill>
              </a:rPr>
              <a:t>Protected from vanishing gradients</a:t>
            </a:r>
            <a:endParaRPr lang="en-US" sz="3600">
              <a:solidFill>
                <a:srgbClr val="002060"/>
              </a:solidFill>
            </a:endParaRPr>
          </a:p>
          <a:p>
            <a:pPr>
              <a:lnSpc>
                <a:spcPct val="130000"/>
              </a:lnSpc>
            </a:pPr>
            <a:r>
              <a:rPr lang="en-US" sz="3600">
                <a:solidFill>
                  <a:srgbClr val="002060"/>
                </a:solidFill>
              </a:rPr>
              <a:t>Controlled by forget and input gates</a:t>
            </a:r>
            <a:endParaRPr lang="en-US" sz="3600">
              <a:solidFill>
                <a:srgbClr val="00206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Think of the cell state as a conveyor belt</a:t>
            </a:r>
            <a:endParaRPr lang="en-US" sz="3200">
              <a:solidFill>
                <a:srgbClr val="FF0000"/>
              </a:solidFill>
              <a:sym typeface="+mn-ea"/>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cell state C is like a memory conveyor belt running through time</a:t>
            </a:r>
            <a:endParaRPr lang="en-US" sz="3600">
              <a:solidFill>
                <a:srgbClr val="002060"/>
              </a:solidFill>
            </a:endParaRPr>
          </a:p>
          <a:p>
            <a:pPr>
              <a:lnSpc>
                <a:spcPct val="140000"/>
              </a:lnSpc>
            </a:pPr>
            <a:r>
              <a:rPr lang="en-US" sz="3600">
                <a:solidFill>
                  <a:srgbClr val="002060"/>
                </a:solidFill>
              </a:rPr>
              <a:t>Forget gate places valves on this belt:</a:t>
            </a:r>
            <a:endParaRPr lang="en-US" sz="3600">
              <a:solidFill>
                <a:srgbClr val="002060"/>
              </a:solidFill>
            </a:endParaRPr>
          </a:p>
          <a:p>
            <a:pPr>
              <a:lnSpc>
                <a:spcPct val="140000"/>
              </a:lnSpc>
            </a:pPr>
            <a:r>
              <a:rPr lang="en-US" sz="3600">
                <a:solidFill>
                  <a:srgbClr val="002060"/>
                </a:solidFill>
              </a:rPr>
              <a:t>1 → keep this memory</a:t>
            </a:r>
            <a:endParaRPr lang="en-US" sz="3600">
              <a:solidFill>
                <a:srgbClr val="002060"/>
              </a:solidFill>
            </a:endParaRPr>
          </a:p>
          <a:p>
            <a:pPr>
              <a:lnSpc>
                <a:spcPct val="140000"/>
              </a:lnSpc>
            </a:pPr>
            <a:r>
              <a:rPr lang="en-US" sz="3600">
                <a:solidFill>
                  <a:srgbClr val="002060"/>
                </a:solidFill>
              </a:rPr>
              <a:t>0 → erase this memory</a:t>
            </a:r>
            <a:endParaRPr lang="en-US" sz="3600">
              <a:solidFill>
                <a:srgbClr val="002060"/>
              </a:solidFill>
            </a:endParaRPr>
          </a:p>
          <a:p>
            <a:pPr>
              <a:lnSpc>
                <a:spcPct val="140000"/>
              </a:lnSpc>
            </a:pPr>
            <a:r>
              <a:rPr lang="en-US" sz="3600">
                <a:solidFill>
                  <a:srgbClr val="002060"/>
                </a:solidFill>
              </a:rPr>
              <a:t>0.3 → keep a little</a:t>
            </a:r>
            <a:endParaRPr lang="en-US" sz="3600">
              <a:solidFill>
                <a:srgbClr val="002060"/>
              </a:solidFill>
            </a:endParaRPr>
          </a:p>
          <a:p>
            <a:pPr>
              <a:lnSpc>
                <a:spcPct val="140000"/>
              </a:lnSpc>
            </a:pPr>
            <a:r>
              <a:rPr lang="en-US" sz="3600">
                <a:solidFill>
                  <a:srgbClr val="002060"/>
                </a:solidFill>
              </a:rPr>
              <a:t>0.9 → keep almost everything</a:t>
            </a:r>
            <a:endParaRPr lang="en-US" sz="3600">
              <a:solidFill>
                <a:srgbClr val="002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normAutofit/>
          </a:bodyPr>
          <a:p>
            <a:pPr algn="ctr"/>
            <a:r>
              <a:rPr lang="en-US" sz="3200">
                <a:solidFill>
                  <a:srgbClr val="FF0000"/>
                </a:solidFill>
              </a:rPr>
              <a:t>Example</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The movie, despite its slow start, was amazing</a:t>
            </a:r>
            <a:endParaRPr lang="en-US" sz="3600">
              <a:solidFill>
                <a:srgbClr val="002060"/>
              </a:solidFill>
            </a:endParaRPr>
          </a:p>
          <a:p>
            <a:pPr>
              <a:lnSpc>
                <a:spcPct val="130000"/>
              </a:lnSpc>
            </a:pPr>
            <a:r>
              <a:rPr lang="en-US" sz="3600">
                <a:solidFill>
                  <a:srgbClr val="002060"/>
                </a:solidFill>
              </a:rPr>
              <a:t>The sentiment (“positive”) needs to be remembered from the word amazing until the end.</a:t>
            </a:r>
            <a:endParaRPr lang="en-US" sz="3600">
              <a:solidFill>
                <a:srgbClr val="002060"/>
              </a:solidFill>
            </a:endParaRPr>
          </a:p>
          <a:p>
            <a:pPr>
              <a:lnSpc>
                <a:spcPct val="130000"/>
              </a:lnSpc>
            </a:pPr>
            <a:r>
              <a:rPr lang="en-US" sz="3600">
                <a:solidFill>
                  <a:srgbClr val="002060"/>
                </a:solidFill>
              </a:rPr>
              <a:t>That sentiment lives in long-term memory Ct.</a:t>
            </a:r>
            <a:endParaRPr lang="en-US" sz="3600">
              <a:solidFill>
                <a:srgbClr val="00206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normAutofit/>
          </a:bodyPr>
          <a:p>
            <a:pPr algn="ctr"/>
            <a:r>
              <a:rPr lang="en-US" sz="3200">
                <a:solidFill>
                  <a:srgbClr val="FF0000"/>
                </a:solidFill>
              </a:rPr>
              <a:t>Short-term memory: the hidden state ht</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Your current thoughts</a:t>
            </a:r>
            <a:endParaRPr lang="en-US" sz="3600">
              <a:solidFill>
                <a:srgbClr val="002060"/>
              </a:solidFill>
            </a:endParaRPr>
          </a:p>
          <a:p>
            <a:pPr>
              <a:lnSpc>
                <a:spcPct val="130000"/>
              </a:lnSpc>
            </a:pPr>
            <a:r>
              <a:rPr lang="en-US" sz="3600">
                <a:solidFill>
                  <a:srgbClr val="002060"/>
                </a:solidFill>
              </a:rPr>
              <a:t>What you say out loud at this moment</a:t>
            </a:r>
            <a:endParaRPr lang="en-US" sz="3600">
              <a:solidFill>
                <a:srgbClr val="002060"/>
              </a:solidFill>
            </a:endParaRPr>
          </a:p>
          <a:p>
            <a:pPr>
              <a:lnSpc>
                <a:spcPct val="130000"/>
              </a:lnSpc>
            </a:pPr>
            <a:r>
              <a:rPr lang="en-US" sz="3600">
                <a:solidFill>
                  <a:srgbClr val="002060"/>
                </a:solidFill>
              </a:rPr>
              <a:t>It captures recent, context-specific information</a:t>
            </a:r>
            <a:endParaRPr lang="en-US" sz="3600">
              <a:solidFill>
                <a:srgbClr val="002060"/>
              </a:solidFill>
            </a:endParaRPr>
          </a:p>
          <a:p>
            <a:pPr>
              <a:lnSpc>
                <a:spcPct val="130000"/>
              </a:lnSpc>
            </a:pPr>
            <a:r>
              <a:rPr lang="en-US" sz="3600">
                <a:solidFill>
                  <a:srgbClr val="002060"/>
                </a:solidFill>
              </a:rPr>
              <a:t>Changes quickly at every time step</a:t>
            </a:r>
            <a:endParaRPr lang="en-US" sz="3600">
              <a:solidFill>
                <a:srgbClr val="002060"/>
              </a:solidFill>
            </a:endParaRPr>
          </a:p>
          <a:p>
            <a:pPr>
              <a:lnSpc>
                <a:spcPct val="130000"/>
              </a:lnSpc>
            </a:pPr>
            <a:r>
              <a:rPr lang="en-US" sz="3600">
                <a:solidFill>
                  <a:srgbClr val="002060"/>
                </a:solidFill>
              </a:rPr>
              <a:t>Used for:</a:t>
            </a:r>
            <a:endParaRPr lang="en-US" sz="3600">
              <a:solidFill>
                <a:srgbClr val="002060"/>
              </a:solidFill>
            </a:endParaRPr>
          </a:p>
          <a:p>
            <a:pPr lvl="1">
              <a:lnSpc>
                <a:spcPct val="130000"/>
              </a:lnSpc>
            </a:pPr>
            <a:r>
              <a:rPr lang="en-US" sz="3240">
                <a:solidFill>
                  <a:srgbClr val="002060"/>
                </a:solidFill>
              </a:rPr>
              <a:t>Making predictions</a:t>
            </a:r>
            <a:endParaRPr lang="en-US" sz="3240">
              <a:solidFill>
                <a:srgbClr val="002060"/>
              </a:solidFill>
            </a:endParaRPr>
          </a:p>
          <a:p>
            <a:pPr lvl="1">
              <a:lnSpc>
                <a:spcPct val="130000"/>
              </a:lnSpc>
            </a:pPr>
            <a:r>
              <a:rPr lang="en-US" sz="3240">
                <a:solidFill>
                  <a:srgbClr val="002060"/>
                </a:solidFill>
              </a:rPr>
              <a:t>Feeding the next layer</a:t>
            </a:r>
            <a:endParaRPr lang="en-US" sz="3240">
              <a:solidFill>
                <a:srgbClr val="002060"/>
              </a:solidFill>
            </a:endParaRPr>
          </a:p>
          <a:p>
            <a:pPr lvl="1">
              <a:lnSpc>
                <a:spcPct val="130000"/>
              </a:lnSpc>
            </a:pPr>
            <a:r>
              <a:rPr lang="en-US" sz="3240">
                <a:solidFill>
                  <a:srgbClr val="002060"/>
                </a:solidFill>
              </a:rPr>
              <a:t>Influencing the next step</a:t>
            </a:r>
            <a:endParaRPr lang="en-US" sz="3240">
              <a:solidFill>
                <a:srgbClr val="00206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101600"/>
            <a:ext cx="10515600" cy="782320"/>
          </a:xfrm>
        </p:spPr>
        <p:txBody>
          <a:bodyPr>
            <a:normAutofit/>
          </a:bodyPr>
          <a:p>
            <a:pPr algn="ctr"/>
            <a:r>
              <a:rPr lang="en-US" sz="3200">
                <a:solidFill>
                  <a:srgbClr val="FF0000"/>
                </a:solidFill>
              </a:rPr>
              <a:t>Example</a:t>
            </a:r>
            <a:endParaRPr lang="en-US" sz="3200">
              <a:solidFill>
                <a:srgbClr val="FF0000"/>
              </a:solidFill>
            </a:endParaRPr>
          </a:p>
        </p:txBody>
      </p:sp>
      <p:sp>
        <p:nvSpPr>
          <p:cNvPr id="3" name="Content Placeholder 2"/>
          <p:cNvSpPr>
            <a:spLocks noGrp="1"/>
          </p:cNvSpPr>
          <p:nvPr>
            <p:ph idx="1"/>
          </p:nvPr>
        </p:nvSpPr>
        <p:spPr>
          <a:xfrm>
            <a:off x="268605" y="610870"/>
            <a:ext cx="11654790" cy="5852795"/>
          </a:xfrm>
        </p:spPr>
        <p:txBody>
          <a:bodyPr>
            <a:noAutofit/>
          </a:bodyPr>
          <a:p>
            <a:pPr>
              <a:lnSpc>
                <a:spcPct val="130000"/>
              </a:lnSpc>
            </a:pPr>
            <a:r>
              <a:rPr lang="en-US" sz="3600">
                <a:solidFill>
                  <a:srgbClr val="002060"/>
                </a:solidFill>
              </a:rPr>
              <a:t>The movie was amazing but too long</a:t>
            </a:r>
            <a:endParaRPr lang="en-US" sz="3600">
              <a:solidFill>
                <a:srgbClr val="002060"/>
              </a:solidFill>
            </a:endParaRPr>
          </a:p>
          <a:p>
            <a:pPr>
              <a:lnSpc>
                <a:spcPct val="130000"/>
              </a:lnSpc>
            </a:pPr>
            <a:r>
              <a:rPr lang="en-US" sz="3600">
                <a:solidFill>
                  <a:srgbClr val="002060"/>
                </a:solidFill>
              </a:rPr>
              <a:t>When processing “long”, the model focuses on:</a:t>
            </a:r>
            <a:endParaRPr lang="en-US" sz="3600">
              <a:solidFill>
                <a:srgbClr val="002060"/>
              </a:solidFill>
            </a:endParaRPr>
          </a:p>
          <a:p>
            <a:pPr>
              <a:lnSpc>
                <a:spcPct val="130000"/>
              </a:lnSpc>
            </a:pPr>
            <a:r>
              <a:rPr lang="en-US" sz="3600">
                <a:solidFill>
                  <a:srgbClr val="002060"/>
                </a:solidFill>
              </a:rPr>
              <a:t>Contrast word “but”</a:t>
            </a:r>
            <a:endParaRPr lang="en-US" sz="3600">
              <a:solidFill>
                <a:srgbClr val="002060"/>
              </a:solidFill>
            </a:endParaRPr>
          </a:p>
          <a:p>
            <a:pPr>
              <a:lnSpc>
                <a:spcPct val="130000"/>
              </a:lnSpc>
            </a:pPr>
            <a:r>
              <a:rPr lang="en-US" sz="3600">
                <a:solidFill>
                  <a:srgbClr val="002060"/>
                </a:solidFill>
              </a:rPr>
              <a:t>Immediate sentiment shift</a:t>
            </a:r>
            <a:endParaRPr lang="en-US" sz="3600">
              <a:solidFill>
                <a:srgbClr val="002060"/>
              </a:solidFill>
            </a:endParaRPr>
          </a:p>
          <a:p>
            <a:pPr>
              <a:lnSpc>
                <a:spcPct val="130000"/>
              </a:lnSpc>
            </a:pPr>
            <a:r>
              <a:rPr lang="en-US" sz="3600">
                <a:solidFill>
                  <a:srgbClr val="002060"/>
                </a:solidFill>
              </a:rPr>
              <a:t>hidden state is derived from the cell state - short term memory is derived from long term memory</a:t>
            </a:r>
            <a:endParaRPr lang="en-US" sz="3600">
              <a:solidFill>
                <a:srgbClr val="00206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Core Idea Behind LSTMs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10000"/>
              </a:lnSpc>
            </a:pPr>
            <a:r>
              <a:rPr lang="en-US" sz="3600">
                <a:solidFill>
                  <a:srgbClr val="002060"/>
                </a:solidFill>
              </a:rPr>
              <a:t>Key to LSTMs is the cell state, the horizontal line running through the top of the diagram</a:t>
            </a:r>
            <a:endParaRPr lang="en-US" sz="3600">
              <a:solidFill>
                <a:srgbClr val="002060"/>
              </a:solidFill>
            </a:endParaRPr>
          </a:p>
          <a:p>
            <a:pPr>
              <a:lnSpc>
                <a:spcPct val="110000"/>
              </a:lnSpc>
            </a:pPr>
            <a:r>
              <a:rPr lang="en-US" sz="3600">
                <a:solidFill>
                  <a:srgbClr val="002060"/>
                </a:solidFill>
              </a:rPr>
              <a:t>Cell state is kind of like a conveyor belt</a:t>
            </a:r>
            <a:endParaRPr lang="en-US" sz="3600">
              <a:solidFill>
                <a:srgbClr val="002060"/>
              </a:solidFill>
            </a:endParaRPr>
          </a:p>
          <a:p>
            <a:pPr>
              <a:lnSpc>
                <a:spcPct val="110000"/>
              </a:lnSpc>
            </a:pPr>
            <a:r>
              <a:rPr lang="en-US" sz="3600">
                <a:solidFill>
                  <a:srgbClr val="002060"/>
                </a:solidFill>
              </a:rPr>
              <a:t>Runs straight down the entire chain, with only some minor linear interactions</a:t>
            </a:r>
            <a:endParaRPr lang="en-US" sz="3600">
              <a:solidFill>
                <a:srgbClr val="002060"/>
              </a:solidFill>
            </a:endParaRPr>
          </a:p>
          <a:p>
            <a:pPr>
              <a:lnSpc>
                <a:spcPct val="110000"/>
              </a:lnSpc>
            </a:pPr>
            <a:r>
              <a:rPr lang="en-US" sz="3600">
                <a:solidFill>
                  <a:srgbClr val="002060"/>
                </a:solidFill>
              </a:rPr>
              <a:t>Very easy for information to just flow along it unchanged</a:t>
            </a:r>
            <a:endParaRPr lang="en-US" sz="3600">
              <a:solidFill>
                <a:srgbClr val="00206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Core Idea Behind LSTMs</a:t>
            </a:r>
            <a:endParaRPr lang="en-US" sz="3200">
              <a:solidFill>
                <a:srgbClr val="FF0000"/>
              </a:solidFill>
            </a:endParaRPr>
          </a:p>
        </p:txBody>
      </p:sp>
      <p:pic>
        <p:nvPicPr>
          <p:cNvPr id="5" name="Picture 4"/>
          <p:cNvPicPr>
            <a:picLocks noChangeAspect="1"/>
          </p:cNvPicPr>
          <p:nvPr/>
        </p:nvPicPr>
        <p:blipFill>
          <a:blip r:embed="rId1"/>
          <a:stretch>
            <a:fillRect/>
          </a:stretch>
        </p:blipFill>
        <p:spPr>
          <a:xfrm>
            <a:off x="476250" y="1207770"/>
            <a:ext cx="11916410" cy="368109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Core Idea Behind LSTMs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60000"/>
              </a:lnSpc>
            </a:pPr>
            <a:r>
              <a:rPr lang="en-US" sz="3600">
                <a:solidFill>
                  <a:srgbClr val="002060"/>
                </a:solidFill>
              </a:rPr>
              <a:t>LSTM does have the ability to remove or add information to the cell state, carefully regulated by structures called gates</a:t>
            </a:r>
            <a:endParaRPr lang="en-US" sz="3600">
              <a:solidFill>
                <a:srgbClr val="002060"/>
              </a:solidFill>
            </a:endParaRPr>
          </a:p>
          <a:p>
            <a:pPr>
              <a:lnSpc>
                <a:spcPct val="160000"/>
              </a:lnSpc>
            </a:pPr>
            <a:r>
              <a:rPr lang="en-US" sz="3600">
                <a:solidFill>
                  <a:srgbClr val="002060"/>
                </a:solidFill>
              </a:rPr>
              <a:t>Gates are a way to optionally let information through. </a:t>
            </a:r>
            <a:endParaRPr lang="en-US" sz="3600">
              <a:solidFill>
                <a:srgbClr val="002060"/>
              </a:solidFill>
            </a:endParaRPr>
          </a:p>
          <a:p>
            <a:pPr>
              <a:lnSpc>
                <a:spcPct val="160000"/>
              </a:lnSpc>
            </a:pPr>
            <a:r>
              <a:rPr lang="en-US" sz="3600">
                <a:solidFill>
                  <a:srgbClr val="002060"/>
                </a:solidFill>
              </a:rPr>
              <a:t>They are composed out of a sigmoid neural net layer and a pointwise multiplication operation.</a:t>
            </a:r>
            <a:endParaRPr lang="en-US" sz="3600">
              <a:solidFill>
                <a:srgbClr val="00206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Core Idea Behind LSTMs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The sigmoid layer outputs numbers between zero and one, describing how much of each component should be let through. </a:t>
            </a:r>
            <a:endParaRPr lang="en-US" sz="3600">
              <a:solidFill>
                <a:srgbClr val="002060"/>
              </a:solidFill>
            </a:endParaRPr>
          </a:p>
          <a:p>
            <a:pPr>
              <a:lnSpc>
                <a:spcPct val="140000"/>
              </a:lnSpc>
            </a:pPr>
            <a:r>
              <a:rPr lang="en-US" sz="3600">
                <a:solidFill>
                  <a:srgbClr val="002060"/>
                </a:solidFill>
              </a:rPr>
              <a:t>A value of zero means “let nothing through,” while a value of one means “let everything through!”</a:t>
            </a: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8883650" y="4179570"/>
            <a:ext cx="1885950" cy="23050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LSTM Gates</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LSTM has three of these gates, to protect and control the cell state</a:t>
            </a:r>
            <a:endParaRPr lang="en-US" sz="3600">
              <a:solidFill>
                <a:srgbClr val="002060"/>
              </a:solidFill>
            </a:endParaRPr>
          </a:p>
          <a:p>
            <a:pPr>
              <a:lnSpc>
                <a:spcPct val="140000"/>
              </a:lnSpc>
            </a:pPr>
            <a:r>
              <a:rPr lang="en-US" sz="3600">
                <a:solidFill>
                  <a:srgbClr val="002060"/>
                </a:solidFill>
              </a:rPr>
              <a:t>First step - decide what information we’re going to throw away from the cell state</a:t>
            </a:r>
            <a:endParaRPr lang="en-US" sz="3600">
              <a:solidFill>
                <a:srgbClr val="002060"/>
              </a:solidFill>
            </a:endParaRPr>
          </a:p>
          <a:p>
            <a:pPr>
              <a:lnSpc>
                <a:spcPct val="140000"/>
              </a:lnSpc>
            </a:pPr>
            <a:r>
              <a:rPr lang="en-US" sz="3600">
                <a:solidFill>
                  <a:srgbClr val="002060"/>
                </a:solidFill>
              </a:rPr>
              <a:t>decision is made by a sigmoid layer called the “forget gate layer.”</a:t>
            </a:r>
            <a:endParaRPr lang="en-US" sz="3600">
              <a:solidFill>
                <a:srgbClr val="00206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Forget Gate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Decide what information from the past should be kept and what should be forgotten.</a:t>
            </a:r>
            <a:endParaRPr lang="en-US" sz="3600">
              <a:solidFill>
                <a:srgbClr val="002060"/>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Forget Gate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Takes h</a:t>
            </a:r>
            <a:r>
              <a:rPr lang="en-US" sz="3600" baseline="-25000">
                <a:solidFill>
                  <a:srgbClr val="002060"/>
                </a:solidFill>
              </a:rPr>
              <a:t>t−1</a:t>
            </a:r>
            <a:r>
              <a:rPr lang="en-US" sz="3600">
                <a:solidFill>
                  <a:srgbClr val="002060"/>
                </a:solidFill>
              </a:rPr>
              <a:t> and x</a:t>
            </a:r>
            <a:r>
              <a:rPr lang="en-US" sz="3600" baseline="-25000">
                <a:solidFill>
                  <a:srgbClr val="002060"/>
                </a:solidFill>
              </a:rPr>
              <a:t>t</a:t>
            </a:r>
            <a:r>
              <a:rPr lang="en-US" sz="3600">
                <a:solidFill>
                  <a:srgbClr val="002060"/>
                </a:solidFill>
              </a:rPr>
              <a:t>, and outputs a number between 0 and 1 for each number in the cell state C</a:t>
            </a:r>
            <a:r>
              <a:rPr lang="en-US" sz="3600" baseline="-25000">
                <a:solidFill>
                  <a:srgbClr val="002060"/>
                </a:solidFill>
              </a:rPr>
              <a:t>t−1</a:t>
            </a:r>
            <a:endParaRPr lang="en-US" sz="3600" baseline="-25000">
              <a:solidFill>
                <a:srgbClr val="002060"/>
              </a:solidFill>
            </a:endParaRPr>
          </a:p>
          <a:p>
            <a:pPr>
              <a:lnSpc>
                <a:spcPct val="140000"/>
              </a:lnSpc>
            </a:pPr>
            <a:r>
              <a:rPr lang="en-US" sz="3600">
                <a:solidFill>
                  <a:srgbClr val="002060"/>
                </a:solidFill>
              </a:rPr>
              <a:t>1 - completely keep this</a:t>
            </a:r>
            <a:endParaRPr lang="en-US" sz="3600">
              <a:solidFill>
                <a:srgbClr val="002060"/>
              </a:solidFill>
            </a:endParaRPr>
          </a:p>
          <a:p>
            <a:pPr>
              <a:lnSpc>
                <a:spcPct val="140000"/>
              </a:lnSpc>
            </a:pPr>
            <a:r>
              <a:rPr lang="en-US" sz="3600">
                <a:solidFill>
                  <a:srgbClr val="002060"/>
                </a:solidFill>
              </a:rPr>
              <a:t>0 - completely get rid of this</a:t>
            </a:r>
            <a:endParaRPr lang="en-US" sz="3600">
              <a:solidFill>
                <a:srgbClr val="002060"/>
              </a:solidFill>
            </a:endParaRPr>
          </a:p>
          <a:p>
            <a:pPr algn="just">
              <a:lnSpc>
                <a:spcPct val="140000"/>
              </a:lnSpc>
            </a:pPr>
            <a:r>
              <a:rPr lang="en-US" sz="3600">
                <a:solidFill>
                  <a:srgbClr val="002060"/>
                </a:solidFill>
              </a:rPr>
              <a:t>In the language model trying to predict the next word based on all the previous ones, the cell state might include gender of present subject, so that correct pronouns can be used</a:t>
            </a:r>
            <a:endParaRPr lang="en-US" sz="3600">
              <a:solidFill>
                <a:srgbClr val="00206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p>
            <a:pPr algn="ctr"/>
            <a:r>
              <a:rPr lang="en-US" sz="3200">
                <a:solidFill>
                  <a:srgbClr val="FF0000"/>
                </a:solidFill>
              </a:rPr>
              <a:t>Forget Gate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When we see a new subject, we want to forget the gender of the old subject</a:t>
            </a:r>
            <a:endParaRPr lang="en-US" sz="3600">
              <a:solidFill>
                <a:srgbClr val="002060"/>
              </a:solidFill>
            </a:endParaRPr>
          </a:p>
          <a:p>
            <a:pPr>
              <a:lnSpc>
                <a:spcPct val="140000"/>
              </a:lnSpc>
            </a:pP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678180" y="2564130"/>
            <a:ext cx="10835640" cy="334708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Forget Gate</a:t>
            </a:r>
            <a:endParaRPr lang="en-US" sz="3200">
              <a:solidFill>
                <a:srgbClr val="FF0000"/>
              </a:solidFill>
            </a:endParaRPr>
          </a:p>
        </p:txBody>
      </p:sp>
      <p:sp>
        <p:nvSpPr>
          <p:cNvPr id="3" name="Content Placeholder 2"/>
          <p:cNvSpPr>
            <a:spLocks noGrp="1"/>
          </p:cNvSpPr>
          <p:nvPr>
            <p:ph idx="1"/>
          </p:nvPr>
        </p:nvSpPr>
        <p:spPr>
          <a:xfrm>
            <a:off x="317500" y="782955"/>
            <a:ext cx="5419725" cy="5852795"/>
          </a:xfrm>
        </p:spPr>
        <p:txBody>
          <a:bodyPr>
            <a:noAutofit/>
          </a:bodyPr>
          <a:p>
            <a:pPr>
              <a:lnSpc>
                <a:spcPct val="140000"/>
              </a:lnSpc>
            </a:pPr>
            <a:r>
              <a:rPr lang="en-US" sz="3600">
                <a:solidFill>
                  <a:srgbClr val="002060"/>
                </a:solidFill>
              </a:rPr>
              <a:t>At time step t, the forget gate computes:</a:t>
            </a:r>
            <a:endParaRPr lang="en-US" sz="3600">
              <a:solidFill>
                <a:srgbClr val="002060"/>
              </a:solidFill>
            </a:endParaRPr>
          </a:p>
          <a:p>
            <a:pPr>
              <a:lnSpc>
                <a:spcPct val="140000"/>
              </a:lnSpc>
            </a:pPr>
            <a:endParaRPr lang="en-US" sz="3600">
              <a:solidFill>
                <a:srgbClr val="002060"/>
              </a:solidFill>
            </a:endParaRPr>
          </a:p>
          <a:p>
            <a:pPr>
              <a:lnSpc>
                <a:spcPct val="140000"/>
              </a:lnSpc>
            </a:pPr>
            <a:r>
              <a:rPr lang="en-US" sz="3600">
                <a:solidFill>
                  <a:srgbClr val="002060"/>
                </a:solidFill>
              </a:rPr>
              <a:t>Then it updates the cell state:</a:t>
            </a:r>
            <a:endParaRPr lang="en-US" sz="3600">
              <a:solidFill>
                <a:srgbClr val="002060"/>
              </a:solidFill>
            </a:endParaRPr>
          </a:p>
          <a:p>
            <a:pPr>
              <a:lnSpc>
                <a:spcPct val="140000"/>
              </a:lnSpc>
            </a:pPr>
            <a:endParaRPr lang="en-US" sz="3600">
              <a:solidFill>
                <a:srgbClr val="002060"/>
              </a:solidFill>
            </a:endParaRPr>
          </a:p>
        </p:txBody>
      </p:sp>
      <p:sp>
        <p:nvSpPr>
          <p:cNvPr id="4" name="Content Placeholder 2"/>
          <p:cNvSpPr>
            <a:spLocks noGrp="1"/>
          </p:cNvSpPr>
          <p:nvPr/>
        </p:nvSpPr>
        <p:spPr>
          <a:xfrm>
            <a:off x="6155690" y="696595"/>
            <a:ext cx="5882005" cy="585279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80604020202020204" pitchFamily="34" charset="0"/>
              <a:buChar char="•"/>
              <a:defRPr sz="20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18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6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a:lstStyle>
          <a:p>
            <a:pPr>
              <a:lnSpc>
                <a:spcPct val="140000"/>
              </a:lnSpc>
            </a:pPr>
            <a:r>
              <a:rPr lang="en-US" sz="3600">
                <a:solidFill>
                  <a:srgbClr val="002060"/>
                </a:solidFill>
              </a:rPr>
              <a:t>x</a:t>
            </a:r>
            <a:r>
              <a:rPr lang="en-US" sz="3600" baseline="-25000">
                <a:solidFill>
                  <a:srgbClr val="002060"/>
                </a:solidFill>
              </a:rPr>
              <a:t>t</a:t>
            </a:r>
            <a:r>
              <a:rPr lang="en-US" sz="3600">
                <a:solidFill>
                  <a:srgbClr val="002060"/>
                </a:solidFill>
              </a:rPr>
              <a:t> - current input</a:t>
            </a:r>
            <a:endParaRPr lang="en-US" sz="3600">
              <a:solidFill>
                <a:srgbClr val="002060"/>
              </a:solidFill>
            </a:endParaRPr>
          </a:p>
          <a:p>
            <a:pPr>
              <a:lnSpc>
                <a:spcPct val="140000"/>
              </a:lnSpc>
            </a:pPr>
            <a:r>
              <a:rPr lang="en-US" sz="3600">
                <a:solidFill>
                  <a:srgbClr val="002060"/>
                </a:solidFill>
              </a:rPr>
              <a:t>h</a:t>
            </a:r>
            <a:r>
              <a:rPr lang="en-US" sz="3600" baseline="-25000">
                <a:solidFill>
                  <a:srgbClr val="002060"/>
                </a:solidFill>
              </a:rPr>
              <a:t>t−1</a:t>
            </a:r>
            <a:r>
              <a:rPr lang="en-US" sz="3600">
                <a:solidFill>
                  <a:srgbClr val="002060"/>
                </a:solidFill>
              </a:rPr>
              <a:t>: previous hidden state (summary of the past)</a:t>
            </a:r>
            <a:endParaRPr lang="en-US" sz="3600">
              <a:solidFill>
                <a:srgbClr val="002060"/>
              </a:solidFill>
            </a:endParaRPr>
          </a:p>
          <a:p>
            <a:pPr>
              <a:lnSpc>
                <a:spcPct val="140000"/>
              </a:lnSpc>
            </a:pPr>
            <a:r>
              <a:rPr lang="en-US" sz="3600">
                <a:solidFill>
                  <a:srgbClr val="002060"/>
                </a:solidFill>
              </a:rPr>
              <a:t>C</a:t>
            </a:r>
            <a:r>
              <a:rPr lang="en-US" sz="3600" baseline="-25000">
                <a:solidFill>
                  <a:srgbClr val="002060"/>
                </a:solidFill>
              </a:rPr>
              <a:t>t−1</a:t>
            </a:r>
            <a:r>
              <a:rPr lang="en-US" sz="3600">
                <a:solidFill>
                  <a:srgbClr val="002060"/>
                </a:solidFill>
              </a:rPr>
              <a:t> : previous cell state (long-term memory)</a:t>
            </a:r>
            <a:endParaRPr lang="en-US" sz="3600">
              <a:solidFill>
                <a:srgbClr val="002060"/>
              </a:solidFill>
            </a:endParaRPr>
          </a:p>
          <a:p>
            <a:pPr>
              <a:lnSpc>
                <a:spcPct val="140000"/>
              </a:lnSpc>
            </a:pPr>
            <a:r>
              <a:rPr lang="en-US" sz="3600">
                <a:solidFill>
                  <a:srgbClr val="002060"/>
                </a:solidFill>
              </a:rPr>
              <a:t>f</a:t>
            </a:r>
            <a:r>
              <a:rPr lang="en-US" sz="3600" baseline="-25000">
                <a:solidFill>
                  <a:srgbClr val="002060"/>
                </a:solidFill>
              </a:rPr>
              <a:t>t</a:t>
            </a:r>
            <a:r>
              <a:rPr lang="en-US" sz="3600">
                <a:solidFill>
                  <a:srgbClr val="002060"/>
                </a:solidFill>
              </a:rPr>
              <a:t> : forget gate output (values between 0 and 1)</a:t>
            </a:r>
            <a:endParaRPr lang="en-US" sz="3600">
              <a:solidFill>
                <a:srgbClr val="002060"/>
              </a:solidFill>
            </a:endParaRPr>
          </a:p>
        </p:txBody>
      </p:sp>
      <p:pic>
        <p:nvPicPr>
          <p:cNvPr id="5" name="Picture 4"/>
          <p:cNvPicPr>
            <a:picLocks noChangeAspect="1"/>
          </p:cNvPicPr>
          <p:nvPr/>
        </p:nvPicPr>
        <p:blipFill>
          <a:blip r:embed="rId1"/>
          <a:stretch>
            <a:fillRect/>
          </a:stretch>
        </p:blipFill>
        <p:spPr>
          <a:xfrm>
            <a:off x="558800" y="2521585"/>
            <a:ext cx="3676650" cy="523875"/>
          </a:xfrm>
          <a:prstGeom prst="rect">
            <a:avLst/>
          </a:prstGeom>
        </p:spPr>
      </p:pic>
      <p:pic>
        <p:nvPicPr>
          <p:cNvPr id="6" name="Picture 5"/>
          <p:cNvPicPr>
            <a:picLocks noChangeAspect="1"/>
          </p:cNvPicPr>
          <p:nvPr/>
        </p:nvPicPr>
        <p:blipFill>
          <a:blip r:embed="rId2"/>
          <a:stretch>
            <a:fillRect/>
          </a:stretch>
        </p:blipFill>
        <p:spPr>
          <a:xfrm>
            <a:off x="150495" y="4940935"/>
            <a:ext cx="3676650" cy="523875"/>
          </a:xfrm>
          <a:prstGeom prst="rect">
            <a:avLst/>
          </a:prstGeom>
        </p:spPr>
      </p:pic>
      <p:pic>
        <p:nvPicPr>
          <p:cNvPr id="7" name="Picture 6"/>
          <p:cNvPicPr>
            <a:picLocks noChangeAspect="1"/>
          </p:cNvPicPr>
          <p:nvPr/>
        </p:nvPicPr>
        <p:blipFill>
          <a:blip r:embed="rId3"/>
          <a:stretch>
            <a:fillRect/>
          </a:stretch>
        </p:blipFill>
        <p:spPr>
          <a:xfrm>
            <a:off x="317500" y="5722620"/>
            <a:ext cx="4124325" cy="381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Forget Gate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LSTM separates “remembering information” from “processing information”, and the sigmoid gates decide how much memory flows through time.</a:t>
            </a:r>
            <a:endParaRPr lang="en-US" sz="3600">
              <a:solidFill>
                <a:srgbClr val="002060"/>
              </a:solidFill>
            </a:endParaRPr>
          </a:p>
          <a:p>
            <a:pPr>
              <a:lnSpc>
                <a:spcPct val="140000"/>
              </a:lnSpc>
            </a:pPr>
            <a:r>
              <a:rPr lang="en-US" sz="3600">
                <a:solidFill>
                  <a:srgbClr val="002060"/>
                </a:solidFill>
              </a:rPr>
              <a:t>Sigmoid outputs values in (0, 1):</a:t>
            </a:r>
            <a:endParaRPr lang="en-US" sz="3600">
              <a:solidFill>
                <a:srgbClr val="002060"/>
              </a:solidFill>
            </a:endParaRPr>
          </a:p>
          <a:p>
            <a:pPr>
              <a:lnSpc>
                <a:spcPct val="140000"/>
              </a:lnSpc>
            </a:pPr>
            <a:r>
              <a:rPr lang="en-US" sz="3600">
                <a:solidFill>
                  <a:srgbClr val="002060"/>
                </a:solidFill>
              </a:rPr>
              <a:t>Perfect for how much to allow through</a:t>
            </a:r>
            <a:endParaRPr lang="en-US" sz="3600">
              <a:solidFill>
                <a:srgbClr val="002060"/>
              </a:solidFill>
            </a:endParaRPr>
          </a:p>
          <a:p>
            <a:pPr>
              <a:lnSpc>
                <a:spcPct val="140000"/>
              </a:lnSpc>
            </a:pPr>
            <a:r>
              <a:rPr lang="en-US" sz="3600">
                <a:solidFill>
                  <a:srgbClr val="002060"/>
                </a:solidFill>
              </a:rPr>
              <a:t>Acts like a soft switch, not a hard on/off</a:t>
            </a: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Decide what to store in the cell state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has two parts</a:t>
            </a:r>
            <a:endParaRPr lang="en-US" sz="3600">
              <a:solidFill>
                <a:srgbClr val="002060"/>
              </a:solidFill>
            </a:endParaRPr>
          </a:p>
          <a:p>
            <a:pPr>
              <a:lnSpc>
                <a:spcPct val="140000"/>
              </a:lnSpc>
            </a:pPr>
            <a:r>
              <a:rPr lang="en-US" sz="3600">
                <a:solidFill>
                  <a:srgbClr val="002060"/>
                </a:solidFill>
              </a:rPr>
              <a:t>a sigmoid layer called “input gate layer” decides which values we’ll update</a:t>
            </a:r>
            <a:endParaRPr lang="en-US" sz="3600">
              <a:solidFill>
                <a:srgbClr val="002060"/>
              </a:solidFill>
            </a:endParaRPr>
          </a:p>
          <a:p>
            <a:pPr>
              <a:lnSpc>
                <a:spcPct val="140000"/>
              </a:lnSpc>
            </a:pPr>
            <a:r>
              <a:rPr lang="en-US" sz="3600">
                <a:solidFill>
                  <a:srgbClr val="002060"/>
                </a:solidFill>
              </a:rPr>
              <a:t>tanh layer creates a vector of new candidate values, C̃</a:t>
            </a:r>
            <a:r>
              <a:rPr lang="en-US" sz="3600" baseline="-25000">
                <a:solidFill>
                  <a:srgbClr val="002060"/>
                </a:solidFill>
              </a:rPr>
              <a:t>t</a:t>
            </a:r>
            <a:r>
              <a:rPr lang="en-US" sz="3600">
                <a:solidFill>
                  <a:srgbClr val="002060"/>
                </a:solidFill>
              </a:rPr>
              <a:t>, that could be added to the state</a:t>
            </a:r>
            <a:endParaRPr lang="en-US" sz="3600">
              <a:solidFill>
                <a:srgbClr val="002060"/>
              </a:solidFill>
            </a:endParaRPr>
          </a:p>
          <a:p>
            <a:pPr>
              <a:lnSpc>
                <a:spcPct val="140000"/>
              </a:lnSpc>
            </a:pPr>
            <a:r>
              <a:rPr lang="en-US" sz="3600">
                <a:solidFill>
                  <a:srgbClr val="002060"/>
                </a:solidFill>
              </a:rPr>
              <a:t>Combine these two to create an update to the state</a:t>
            </a:r>
            <a:endParaRPr lang="en-US" sz="3600">
              <a:solidFill>
                <a:srgbClr val="00206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Decide what to store in the cell state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In the example of our language model, we’d want to add the gender of the new subject to the cell state, to replace the old one we’re forgetting.</a:t>
            </a:r>
            <a:endParaRPr lang="en-US" sz="3600">
              <a:solidFill>
                <a:srgbClr val="002060"/>
              </a:solidFill>
            </a:endParaRPr>
          </a:p>
          <a:p>
            <a:pPr>
              <a:lnSpc>
                <a:spcPct val="140000"/>
              </a:lnSpc>
            </a:pP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672465" y="3229610"/>
            <a:ext cx="10983595" cy="339217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Update Cell State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It’s now time to update the old cell state, C</a:t>
            </a:r>
            <a:r>
              <a:rPr lang="en-US" sz="3600" baseline="-25000">
                <a:solidFill>
                  <a:srgbClr val="002060"/>
                </a:solidFill>
              </a:rPr>
              <a:t>t−1</a:t>
            </a:r>
            <a:r>
              <a:rPr lang="en-US" sz="3600">
                <a:solidFill>
                  <a:srgbClr val="002060"/>
                </a:solidFill>
              </a:rPr>
              <a:t>, into the new cell state C</a:t>
            </a:r>
            <a:r>
              <a:rPr lang="en-US" sz="3600" baseline="-25000">
                <a:solidFill>
                  <a:srgbClr val="002060"/>
                </a:solidFill>
              </a:rPr>
              <a:t>t</a:t>
            </a:r>
            <a:r>
              <a:rPr lang="en-US" sz="3600">
                <a:solidFill>
                  <a:srgbClr val="002060"/>
                </a:solidFill>
              </a:rPr>
              <a:t>. </a:t>
            </a:r>
            <a:endParaRPr lang="en-US" sz="3600">
              <a:solidFill>
                <a:srgbClr val="002060"/>
              </a:solidFill>
            </a:endParaRPr>
          </a:p>
          <a:p>
            <a:pPr>
              <a:lnSpc>
                <a:spcPct val="140000"/>
              </a:lnSpc>
            </a:pPr>
            <a:r>
              <a:rPr lang="en-US" sz="3600">
                <a:solidFill>
                  <a:srgbClr val="002060"/>
                </a:solidFill>
              </a:rPr>
              <a:t>We multiply the old state by ft, forgetting the things we decided to forget earlier. </a:t>
            </a:r>
            <a:endParaRPr lang="en-US" sz="3600">
              <a:solidFill>
                <a:srgbClr val="002060"/>
              </a:solidFill>
            </a:endParaRPr>
          </a:p>
          <a:p>
            <a:pPr>
              <a:lnSpc>
                <a:spcPct val="140000"/>
              </a:lnSpc>
            </a:pPr>
            <a:r>
              <a:rPr lang="en-US" sz="3600">
                <a:solidFill>
                  <a:srgbClr val="002060"/>
                </a:solidFill>
              </a:rPr>
              <a:t>Then we add it∗C̃ t. </a:t>
            </a:r>
            <a:endParaRPr lang="en-US" sz="3600">
              <a:solidFill>
                <a:srgbClr val="002060"/>
              </a:solidFill>
            </a:endParaRPr>
          </a:p>
          <a:p>
            <a:pPr>
              <a:lnSpc>
                <a:spcPct val="140000"/>
              </a:lnSpc>
            </a:pPr>
            <a:r>
              <a:rPr lang="en-US" sz="3600">
                <a:solidFill>
                  <a:srgbClr val="002060"/>
                </a:solidFill>
              </a:rPr>
              <a:t>This is the new candidate values, scaled by how much we decided to update each state value.</a:t>
            </a:r>
            <a:endParaRPr lang="en-US" sz="3600">
              <a:solidFill>
                <a:srgbClr val="002060"/>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Update Cell State</a:t>
            </a:r>
            <a:endParaRPr lang="en-US" sz="3200">
              <a:solidFill>
                <a:srgbClr val="FF0000"/>
              </a:solidFill>
            </a:endParaRPr>
          </a:p>
        </p:txBody>
      </p:sp>
      <p:pic>
        <p:nvPicPr>
          <p:cNvPr id="5" name="Picture 4"/>
          <p:cNvPicPr>
            <a:picLocks noChangeAspect="1"/>
          </p:cNvPicPr>
          <p:nvPr/>
        </p:nvPicPr>
        <p:blipFill>
          <a:blip r:embed="rId1"/>
          <a:stretch>
            <a:fillRect/>
          </a:stretch>
        </p:blipFill>
        <p:spPr>
          <a:xfrm>
            <a:off x="524510" y="1038860"/>
            <a:ext cx="11508740" cy="35547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Update Cell State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LSTM updates its long-term memory (cell state) by forgetting old information and adding new information</a:t>
            </a:r>
            <a:endParaRPr lang="en-US" sz="3600">
              <a:solidFill>
                <a:srgbClr val="002060"/>
              </a:solidFill>
            </a:endParaRPr>
          </a:p>
          <a:p>
            <a:pPr>
              <a:lnSpc>
                <a:spcPct val="140000"/>
              </a:lnSpc>
            </a:pPr>
            <a:r>
              <a:rPr lang="en-US" sz="3600">
                <a:solidFill>
                  <a:srgbClr val="002060"/>
                </a:solidFill>
              </a:rPr>
              <a:t>equation is the heart of LSTM</a:t>
            </a:r>
            <a:endParaRPr lang="en-US" sz="3600">
              <a:solidFill>
                <a:srgbClr val="002060"/>
              </a:solidFill>
            </a:endParaRPr>
          </a:p>
          <a:p>
            <a:pPr marL="0" indent="0">
              <a:lnSpc>
                <a:spcPct val="140000"/>
              </a:lnSpc>
              <a:buNone/>
            </a:pPr>
            <a:r>
              <a:rPr lang="en-US" sz="3600" b="1">
                <a:solidFill>
                  <a:srgbClr val="7030A0"/>
                </a:solidFill>
              </a:rPr>
              <a:t>Start with old memory Ct−1</a:t>
            </a:r>
            <a:endParaRPr lang="en-US" sz="3600">
              <a:solidFill>
                <a:srgbClr val="002060"/>
              </a:solidFill>
            </a:endParaRPr>
          </a:p>
          <a:p>
            <a:pPr>
              <a:lnSpc>
                <a:spcPct val="140000"/>
              </a:lnSpc>
            </a:pPr>
            <a:r>
              <a:rPr lang="en-US" sz="3600">
                <a:solidFill>
                  <a:srgbClr val="002060"/>
                </a:solidFill>
              </a:rPr>
              <a:t>horizontal top line is the cell state conveyor belt.</a:t>
            </a:r>
            <a:endParaRPr lang="en-US" sz="3600">
              <a:solidFill>
                <a:srgbClr val="002060"/>
              </a:solidFill>
            </a:endParaRPr>
          </a:p>
          <a:p>
            <a:pPr>
              <a:lnSpc>
                <a:spcPct val="140000"/>
              </a:lnSpc>
            </a:pPr>
            <a:r>
              <a:rPr lang="en-US" sz="3600">
                <a:solidFill>
                  <a:srgbClr val="002060"/>
                </a:solidFill>
              </a:rPr>
              <a:t>It carries long-term memory forward</a:t>
            </a:r>
            <a:endParaRPr lang="en-US" sz="3600">
              <a:solidFill>
                <a:srgbClr val="002060"/>
              </a:solidFill>
            </a:endParaRPr>
          </a:p>
          <a:p>
            <a:pPr>
              <a:lnSpc>
                <a:spcPct val="140000"/>
              </a:lnSpc>
            </a:pPr>
            <a:r>
              <a:rPr lang="en-US" sz="3600">
                <a:solidFill>
                  <a:srgbClr val="002060"/>
                </a:solidFill>
              </a:rPr>
              <a:t>It is protected from sudden changes	</a:t>
            </a: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Update Cell State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marL="0" indent="0">
              <a:lnSpc>
                <a:spcPct val="140000"/>
              </a:lnSpc>
              <a:buNone/>
            </a:pPr>
            <a:r>
              <a:rPr lang="en-US" sz="3600" b="1">
                <a:solidFill>
                  <a:srgbClr val="7030A0"/>
                </a:solidFill>
              </a:rPr>
              <a:t>Forget gate decides what to erase (f</a:t>
            </a:r>
            <a:r>
              <a:rPr lang="en-US" sz="3600" b="1" baseline="-25000">
                <a:solidFill>
                  <a:srgbClr val="7030A0"/>
                </a:solidFill>
              </a:rPr>
              <a:t>t</a:t>
            </a:r>
            <a:r>
              <a:rPr lang="en-US" sz="3600" b="1">
                <a:solidFill>
                  <a:srgbClr val="7030A0"/>
                </a:solidFill>
              </a:rPr>
              <a:t>)</a:t>
            </a:r>
            <a:endParaRPr lang="en-US" sz="3600" b="1">
              <a:solidFill>
                <a:srgbClr val="7030A0"/>
              </a:solidFill>
            </a:endParaRPr>
          </a:p>
          <a:p>
            <a:pPr>
              <a:lnSpc>
                <a:spcPct val="140000"/>
              </a:lnSpc>
            </a:pPr>
            <a:r>
              <a:rPr lang="en-US" sz="3600">
                <a:solidFill>
                  <a:srgbClr val="002060"/>
                </a:solidFill>
              </a:rPr>
              <a:t>Topic changes → forget old topic</a:t>
            </a:r>
            <a:endParaRPr lang="en-US" sz="3600">
              <a:solidFill>
                <a:srgbClr val="002060"/>
              </a:solidFill>
            </a:endParaRPr>
          </a:p>
          <a:p>
            <a:pPr>
              <a:lnSpc>
                <a:spcPct val="140000"/>
              </a:lnSpc>
            </a:pPr>
            <a:r>
              <a:rPr lang="en-US" sz="3600">
                <a:solidFill>
                  <a:srgbClr val="002060"/>
                </a:solidFill>
              </a:rPr>
              <a:t>Same topic → retain memory</a:t>
            </a: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Candidate memory</a:t>
            </a:r>
            <a:endParaRPr lang="en-US" sz="3200">
              <a:solidFill>
                <a:srgbClr val="FF0000"/>
              </a:solidFill>
              <a:sym typeface="+mn-ea"/>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Creates new content, but it is not added yet</a:t>
            </a:r>
            <a:endParaRPr lang="en-US" sz="3600">
              <a:solidFill>
                <a:srgbClr val="002060"/>
              </a:solidFill>
            </a:endParaRPr>
          </a:p>
          <a:p>
            <a:pPr>
              <a:lnSpc>
                <a:spcPct val="140000"/>
              </a:lnSpc>
            </a:pPr>
            <a:endParaRPr lang="en-US" sz="3600">
              <a:solidFill>
                <a:srgbClr val="002060"/>
              </a:solidFill>
            </a:endParaRPr>
          </a:p>
          <a:p>
            <a:pPr>
              <a:lnSpc>
                <a:spcPct val="140000"/>
              </a:lnSpc>
            </a:pPr>
            <a:r>
              <a:rPr lang="en-US" sz="3600">
                <a:solidFill>
                  <a:srgbClr val="002060"/>
                </a:solidFill>
              </a:rPr>
              <a:t>Think of this as raw new knowledge - values in [−1,1]</a:t>
            </a:r>
            <a:endParaRPr lang="en-US" sz="3600">
              <a:solidFill>
                <a:srgbClr val="002060"/>
              </a:solidFill>
            </a:endParaRPr>
          </a:p>
          <a:p>
            <a:pPr>
              <a:lnSpc>
                <a:spcPct val="140000"/>
              </a:lnSpc>
            </a:pPr>
            <a:endParaRPr lang="en-US" sz="3600">
              <a:solidFill>
                <a:srgbClr val="002060"/>
              </a:solidFill>
            </a:endParaRPr>
          </a:p>
          <a:p>
            <a:pPr>
              <a:lnSpc>
                <a:spcPct val="140000"/>
              </a:lnSpc>
            </a:pP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3042920" y="1597660"/>
            <a:ext cx="3505200" cy="78105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Input gate decides what to write</a:t>
            </a:r>
            <a:endParaRPr lang="en-US" sz="3200">
              <a:solidFill>
                <a:srgbClr val="FF0000"/>
              </a:solidFill>
              <a:sym typeface="+mn-ea"/>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Creates new content, but it is not added yet</a:t>
            </a:r>
            <a:endParaRPr lang="en-US" sz="3600">
              <a:solidFill>
                <a:srgbClr val="002060"/>
              </a:solidFill>
            </a:endParaRPr>
          </a:p>
          <a:p>
            <a:pPr>
              <a:lnSpc>
                <a:spcPct val="140000"/>
              </a:lnSpc>
            </a:pPr>
            <a:endParaRPr lang="en-US" sz="3600">
              <a:solidFill>
                <a:srgbClr val="002060"/>
              </a:solidFill>
            </a:endParaRPr>
          </a:p>
          <a:p>
            <a:pPr>
              <a:lnSpc>
                <a:spcPct val="140000"/>
              </a:lnSpc>
            </a:pPr>
            <a:r>
              <a:rPr lang="en-US" sz="3600">
                <a:solidFill>
                  <a:srgbClr val="002060"/>
                </a:solidFill>
              </a:rPr>
              <a:t>Think of this as raw new knowledge - values in [−1,1]</a:t>
            </a:r>
            <a:endParaRPr lang="en-US" sz="3600">
              <a:solidFill>
                <a:srgbClr val="002060"/>
              </a:solidFill>
            </a:endParaRPr>
          </a:p>
          <a:p>
            <a:pPr>
              <a:lnSpc>
                <a:spcPct val="140000"/>
              </a:lnSpc>
            </a:pPr>
            <a:endParaRPr lang="en-US" sz="3600">
              <a:solidFill>
                <a:srgbClr val="002060"/>
              </a:solidFill>
            </a:endParaRPr>
          </a:p>
          <a:p>
            <a:pPr>
              <a:lnSpc>
                <a:spcPct val="140000"/>
              </a:lnSpc>
            </a:pPr>
            <a:endParaRPr lang="en-US" sz="3600">
              <a:solidFill>
                <a:srgbClr val="002060"/>
              </a:solidFill>
            </a:endParaRPr>
          </a:p>
        </p:txBody>
      </p:sp>
      <p:pic>
        <p:nvPicPr>
          <p:cNvPr id="5" name="Picture 4"/>
          <p:cNvPicPr>
            <a:picLocks noChangeAspect="1"/>
          </p:cNvPicPr>
          <p:nvPr/>
        </p:nvPicPr>
        <p:blipFill>
          <a:blip r:embed="rId1"/>
          <a:stretch>
            <a:fillRect/>
          </a:stretch>
        </p:blipFill>
        <p:spPr>
          <a:xfrm>
            <a:off x="3956685" y="1619250"/>
            <a:ext cx="3505200" cy="78105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Combine both: update memory</a:t>
            </a:r>
            <a:endParaRPr lang="en-US" sz="3200">
              <a:solidFill>
                <a:srgbClr val="FF0000"/>
              </a:solidFill>
              <a:sym typeface="+mn-ea"/>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 </a:t>
            </a:r>
            <a:endParaRPr lang="en-US" sz="3600">
              <a:solidFill>
                <a:srgbClr val="002060"/>
              </a:solidFill>
            </a:endParaRPr>
          </a:p>
          <a:p>
            <a:pPr>
              <a:lnSpc>
                <a:spcPct val="140000"/>
              </a:lnSpc>
            </a:pPr>
            <a:r>
              <a:rPr lang="en-US" sz="3600">
                <a:solidFill>
                  <a:srgbClr val="002060"/>
                </a:solidFill>
              </a:rPr>
              <a:t>     - Selective filtering</a:t>
            </a:r>
            <a:endParaRPr lang="en-US" sz="3600">
              <a:solidFill>
                <a:srgbClr val="002060"/>
              </a:solidFill>
            </a:endParaRPr>
          </a:p>
          <a:p>
            <a:pPr>
              <a:lnSpc>
                <a:spcPct val="140000"/>
              </a:lnSpc>
            </a:pPr>
            <a:r>
              <a:rPr lang="en-US" sz="3600">
                <a:solidFill>
                  <a:srgbClr val="002060"/>
                </a:solidFill>
              </a:rPr>
              <a:t>+ - memory accumulation</a:t>
            </a:r>
            <a:endParaRPr lang="en-US" sz="3600">
              <a:solidFill>
                <a:srgbClr val="002060"/>
              </a:solidFill>
            </a:endParaRPr>
          </a:p>
          <a:p>
            <a:pPr>
              <a:lnSpc>
                <a:spcPct val="140000"/>
              </a:lnSpc>
            </a:pPr>
            <a:r>
              <a:rPr lang="en-US" sz="3600">
                <a:solidFill>
                  <a:srgbClr val="002060"/>
                </a:solidFill>
              </a:rPr>
              <a:t>Old memory is scaled, not erased</a:t>
            </a:r>
            <a:endParaRPr lang="en-US" sz="3600">
              <a:solidFill>
                <a:srgbClr val="002060"/>
              </a:solidFill>
            </a:endParaRPr>
          </a:p>
          <a:p>
            <a:pPr>
              <a:lnSpc>
                <a:spcPct val="140000"/>
              </a:lnSpc>
            </a:pPr>
            <a:r>
              <a:rPr lang="en-US" sz="3600">
                <a:solidFill>
                  <a:srgbClr val="002060"/>
                </a:solidFill>
              </a:rPr>
              <a:t>New memory is added, not overwritten</a:t>
            </a:r>
            <a:endParaRPr lang="en-US" sz="3600">
              <a:solidFill>
                <a:srgbClr val="002060"/>
              </a:solidFill>
            </a:endParaRPr>
          </a:p>
        </p:txBody>
      </p:sp>
      <p:pic>
        <p:nvPicPr>
          <p:cNvPr id="4" name="Picture 3"/>
          <p:cNvPicPr>
            <a:picLocks noChangeAspect="1"/>
          </p:cNvPicPr>
          <p:nvPr/>
        </p:nvPicPr>
        <p:blipFill>
          <a:blip r:embed="rId1"/>
          <a:stretch>
            <a:fillRect/>
          </a:stretch>
        </p:blipFill>
        <p:spPr>
          <a:xfrm>
            <a:off x="732790" y="968375"/>
            <a:ext cx="4067175" cy="685800"/>
          </a:xfrm>
          <a:prstGeom prst="rect">
            <a:avLst/>
          </a:prstGeom>
        </p:spPr>
      </p:pic>
      <p:pic>
        <p:nvPicPr>
          <p:cNvPr id="7" name="Picture 6"/>
          <p:cNvPicPr>
            <a:picLocks noChangeAspect="1"/>
          </p:cNvPicPr>
          <p:nvPr/>
        </p:nvPicPr>
        <p:blipFill>
          <a:blip r:embed="rId2"/>
          <a:stretch>
            <a:fillRect/>
          </a:stretch>
        </p:blipFill>
        <p:spPr>
          <a:xfrm>
            <a:off x="732790" y="2046605"/>
            <a:ext cx="371475" cy="333375"/>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sym typeface="+mn-ea"/>
              </a:rPr>
              <a:t>Special </a:t>
            </a:r>
            <a:endParaRPr lang="en-US" sz="3200">
              <a:solidFill>
                <a:srgbClr val="FF0000"/>
              </a:solidFill>
              <a:sym typeface="+mn-ea"/>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Unlike RNNs:</a:t>
            </a:r>
            <a:endParaRPr lang="en-US" sz="3600">
              <a:solidFill>
                <a:srgbClr val="002060"/>
              </a:solidFill>
            </a:endParaRPr>
          </a:p>
          <a:p>
            <a:pPr>
              <a:lnSpc>
                <a:spcPct val="140000"/>
              </a:lnSpc>
            </a:pPr>
            <a:r>
              <a:rPr lang="en-US" sz="3600">
                <a:solidFill>
                  <a:srgbClr val="002060"/>
                </a:solidFill>
              </a:rPr>
              <a:t>Memory is not repeatedly multiplied</a:t>
            </a:r>
            <a:endParaRPr lang="en-US" sz="3600">
              <a:solidFill>
                <a:srgbClr val="002060"/>
              </a:solidFill>
            </a:endParaRPr>
          </a:p>
          <a:p>
            <a:pPr>
              <a:lnSpc>
                <a:spcPct val="140000"/>
              </a:lnSpc>
            </a:pPr>
            <a:r>
              <a:rPr lang="en-US" sz="3600">
                <a:solidFill>
                  <a:srgbClr val="002060"/>
                </a:solidFill>
              </a:rPr>
              <a:t>Gradients flow smoothly through time</a:t>
            </a:r>
            <a:endParaRPr lang="en-US" sz="3600">
              <a:solidFill>
                <a:srgbClr val="002060"/>
              </a:solidFill>
            </a:endParaRPr>
          </a:p>
          <a:p>
            <a:pPr>
              <a:lnSpc>
                <a:spcPct val="140000"/>
              </a:lnSpc>
            </a:pPr>
            <a:r>
              <a:rPr lang="en-US" sz="3600">
                <a:solidFill>
                  <a:srgbClr val="002060"/>
                </a:solidFill>
              </a:rPr>
              <a:t>Solves the vanishing gradient problem</a:t>
            </a:r>
            <a:endParaRPr lang="en-US" sz="3600">
              <a:solidFill>
                <a:srgbClr val="002060"/>
              </a:solidFill>
            </a:endParaRPr>
          </a:p>
          <a:p>
            <a:pPr>
              <a:lnSpc>
                <a:spcPct val="140000"/>
              </a:lnSpc>
            </a:pPr>
            <a:r>
              <a:rPr lang="en-US" sz="3600">
                <a:solidFill>
                  <a:srgbClr val="002060"/>
                </a:solidFill>
              </a:rPr>
              <a:t>LSTM memory is updated by forgetting some old information and adding some new information, both controlled by sigmoid gates.</a:t>
            </a:r>
            <a:endParaRPr lang="en-US" sz="3600">
              <a:solidFill>
                <a:srgbClr val="00206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Decide what to Output</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Output will be based on our cell state, but will be a filtered version</a:t>
            </a:r>
            <a:endParaRPr lang="en-US" sz="3600">
              <a:solidFill>
                <a:srgbClr val="002060"/>
              </a:solidFill>
            </a:endParaRPr>
          </a:p>
          <a:p>
            <a:pPr>
              <a:lnSpc>
                <a:spcPct val="140000"/>
              </a:lnSpc>
            </a:pPr>
            <a:r>
              <a:rPr lang="en-US" sz="3600">
                <a:solidFill>
                  <a:srgbClr val="002060"/>
                </a:solidFill>
              </a:rPr>
              <a:t>First, run a sigmoid layer which decides what parts of the cell state we’re going to output</a:t>
            </a:r>
            <a:endParaRPr lang="en-US" sz="3600">
              <a:solidFill>
                <a:srgbClr val="002060"/>
              </a:solidFill>
            </a:endParaRPr>
          </a:p>
          <a:p>
            <a:pPr>
              <a:lnSpc>
                <a:spcPct val="140000"/>
              </a:lnSpc>
            </a:pPr>
            <a:r>
              <a:rPr lang="en-US" sz="3600">
                <a:solidFill>
                  <a:srgbClr val="002060"/>
                </a:solidFill>
              </a:rPr>
              <a:t>Put the cell state through tanh (to push the values to be between −1 and 1) and multiply it by the output of the sigmoid gate, so that we only output the parts we decided to</a:t>
            </a:r>
            <a:endParaRPr lang="en-US" sz="3600">
              <a:solidFill>
                <a:srgbClr val="002060"/>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Example</a:t>
            </a:r>
            <a:endParaRPr lang="en-US" sz="3200">
              <a:solidFill>
                <a:srgbClr val="FF0000"/>
              </a:solidFill>
            </a:endParaRPr>
          </a:p>
        </p:txBody>
      </p:sp>
      <p:sp>
        <p:nvSpPr>
          <p:cNvPr id="3" name="Content Placeholder 2"/>
          <p:cNvSpPr>
            <a:spLocks noGrp="1"/>
          </p:cNvSpPr>
          <p:nvPr>
            <p:ph idx="1"/>
          </p:nvPr>
        </p:nvSpPr>
        <p:spPr>
          <a:xfrm>
            <a:off x="317500" y="782955"/>
            <a:ext cx="11654790" cy="5852795"/>
          </a:xfrm>
        </p:spPr>
        <p:txBody>
          <a:bodyPr>
            <a:noAutofit/>
          </a:bodyPr>
          <a:p>
            <a:pPr>
              <a:lnSpc>
                <a:spcPct val="140000"/>
              </a:lnSpc>
            </a:pPr>
            <a:r>
              <a:rPr lang="en-US" sz="3600">
                <a:solidFill>
                  <a:srgbClr val="002060"/>
                </a:solidFill>
              </a:rPr>
              <a:t>For the language model, since it just saw a subject, it might want to output information relevant to a verb, in case that’s what is coming next</a:t>
            </a:r>
            <a:endParaRPr lang="en-US" sz="3600">
              <a:solidFill>
                <a:srgbClr val="002060"/>
              </a:solidFill>
            </a:endParaRPr>
          </a:p>
          <a:p>
            <a:pPr>
              <a:lnSpc>
                <a:spcPct val="140000"/>
              </a:lnSpc>
            </a:pPr>
            <a:r>
              <a:rPr lang="en-US" sz="3600">
                <a:solidFill>
                  <a:srgbClr val="002060"/>
                </a:solidFill>
              </a:rPr>
              <a:t>For example, it might output whether the subject is singular or plural, so that we know what form a verb should be conjugated into if that’s what follows next</a:t>
            </a:r>
            <a:endParaRPr lang="en-US" sz="3600">
              <a:solidFill>
                <a:srgbClr val="002060"/>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Output Layer</a:t>
            </a:r>
            <a:endParaRPr lang="en-US" sz="3200">
              <a:solidFill>
                <a:srgbClr val="FF0000"/>
              </a:solidFill>
            </a:endParaRPr>
          </a:p>
        </p:txBody>
      </p:sp>
      <p:pic>
        <p:nvPicPr>
          <p:cNvPr id="3" name="Picture 2"/>
          <p:cNvPicPr>
            <a:picLocks noChangeAspect="1"/>
          </p:cNvPicPr>
          <p:nvPr/>
        </p:nvPicPr>
        <p:blipFill>
          <a:blip r:embed="rId1"/>
          <a:stretch>
            <a:fillRect/>
          </a:stretch>
        </p:blipFill>
        <p:spPr>
          <a:xfrm>
            <a:off x="496570" y="626110"/>
            <a:ext cx="11695430" cy="3612515"/>
          </a:xfrm>
          <a:prstGeom prst="rect">
            <a:avLst/>
          </a:prstGeom>
        </p:spPr>
      </p:pic>
      <p:sp>
        <p:nvSpPr>
          <p:cNvPr id="4" name="Content Placeholder 3"/>
          <p:cNvSpPr>
            <a:spLocks noGrp="1"/>
          </p:cNvSpPr>
          <p:nvPr>
            <p:ph idx="1"/>
          </p:nvPr>
        </p:nvSpPr>
        <p:spPr>
          <a:xfrm>
            <a:off x="268605" y="4341495"/>
            <a:ext cx="11654790" cy="2197100"/>
          </a:xfrm>
        </p:spPr>
        <p:txBody>
          <a:bodyPr>
            <a:noAutofit/>
          </a:bodyPr>
          <a:p>
            <a:pPr>
              <a:lnSpc>
                <a:spcPct val="140000"/>
              </a:lnSpc>
            </a:pPr>
            <a:r>
              <a:rPr lang="en-US" sz="3600">
                <a:solidFill>
                  <a:srgbClr val="002060"/>
                </a:solidFill>
              </a:rPr>
              <a:t>Ct - what you know</a:t>
            </a:r>
            <a:endParaRPr lang="en-US" sz="3600">
              <a:solidFill>
                <a:srgbClr val="002060"/>
              </a:solidFill>
            </a:endParaRPr>
          </a:p>
          <a:p>
            <a:pPr>
              <a:lnSpc>
                <a:spcPct val="140000"/>
              </a:lnSpc>
            </a:pPr>
            <a:r>
              <a:rPr lang="en-US" sz="3600">
                <a:solidFill>
                  <a:srgbClr val="002060"/>
                </a:solidFill>
              </a:rPr>
              <a:t>ot: what you choose to say</a:t>
            </a:r>
            <a:endParaRPr lang="en-US" sz="3600">
              <a:solidFill>
                <a:srgbClr val="002060"/>
              </a:solidFill>
            </a:endParaRPr>
          </a:p>
          <a:p>
            <a:pPr>
              <a:lnSpc>
                <a:spcPct val="140000"/>
              </a:lnSpc>
            </a:pPr>
            <a:r>
              <a:rPr lang="en-US" sz="3600">
                <a:solidFill>
                  <a:srgbClr val="002060"/>
                </a:solidFill>
              </a:rPr>
              <a:t>ht: what you express now</a:t>
            </a:r>
            <a:endParaRPr lang="en-US" sz="3600">
              <a:solidFill>
                <a:srgbClr val="00206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Output Layer</a:t>
            </a:r>
            <a:endParaRPr lang="en-US" sz="3200">
              <a:solidFill>
                <a:srgbClr val="FF0000"/>
              </a:solidFill>
            </a:endParaRPr>
          </a:p>
        </p:txBody>
      </p:sp>
      <p:sp>
        <p:nvSpPr>
          <p:cNvPr id="4" name="Content Placeholder 3"/>
          <p:cNvSpPr>
            <a:spLocks noGrp="1"/>
          </p:cNvSpPr>
          <p:nvPr>
            <p:ph idx="1"/>
          </p:nvPr>
        </p:nvSpPr>
        <p:spPr>
          <a:xfrm>
            <a:off x="268605" y="781685"/>
            <a:ext cx="11654790" cy="5756910"/>
          </a:xfrm>
        </p:spPr>
        <p:txBody>
          <a:bodyPr>
            <a:noAutofit/>
          </a:bodyPr>
          <a:p>
            <a:pPr>
              <a:lnSpc>
                <a:spcPct val="140000"/>
              </a:lnSpc>
            </a:pPr>
            <a:r>
              <a:rPr lang="en-US" sz="3600">
                <a:solidFill>
                  <a:srgbClr val="002060"/>
                </a:solidFill>
              </a:rPr>
              <a:t>Output gate decides: What part of that memory matters right now</a:t>
            </a:r>
            <a:endParaRPr lang="en-US" sz="3600">
              <a:solidFill>
                <a:srgbClr val="002060"/>
              </a:solidFill>
            </a:endParaRPr>
          </a:p>
          <a:p>
            <a:pPr>
              <a:lnSpc>
                <a:spcPct val="140000"/>
              </a:lnSpc>
            </a:pPr>
            <a:r>
              <a:rPr lang="en-US" sz="3600">
                <a:solidFill>
                  <a:srgbClr val="002060"/>
                </a:solidFill>
              </a:rPr>
              <a:t>Cell state Ct → everything you know</a:t>
            </a:r>
            <a:endParaRPr lang="en-US" sz="3600">
              <a:solidFill>
                <a:srgbClr val="002060"/>
              </a:solidFill>
            </a:endParaRPr>
          </a:p>
          <a:p>
            <a:pPr>
              <a:lnSpc>
                <a:spcPct val="140000"/>
              </a:lnSpc>
            </a:pPr>
            <a:r>
              <a:rPr lang="en-US" sz="3600">
                <a:solidFill>
                  <a:srgbClr val="002060"/>
                </a:solidFill>
              </a:rPr>
              <a:t>Output gate ot → what you choose to say</a:t>
            </a:r>
            <a:endParaRPr lang="en-US" sz="3600">
              <a:solidFill>
                <a:srgbClr val="002060"/>
              </a:solidFill>
            </a:endParaRPr>
          </a:p>
          <a:p>
            <a:pPr>
              <a:lnSpc>
                <a:spcPct val="140000"/>
              </a:lnSpc>
            </a:pPr>
            <a:r>
              <a:rPr lang="en-US" sz="3600">
                <a:solidFill>
                  <a:srgbClr val="002060"/>
                </a:solidFill>
              </a:rPr>
              <a:t>Hidden state ht → what actually comes out of your mouth</a:t>
            </a:r>
            <a:endParaRPr lang="en-US" sz="3600">
              <a:solidFill>
                <a:srgbClr val="00206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Output Layer</a:t>
            </a:r>
            <a:endParaRPr lang="en-US" sz="3200">
              <a:solidFill>
                <a:srgbClr val="FF0000"/>
              </a:solidFill>
            </a:endParaRPr>
          </a:p>
        </p:txBody>
      </p:sp>
      <p:sp>
        <p:nvSpPr>
          <p:cNvPr id="4" name="Content Placeholder 3"/>
          <p:cNvSpPr>
            <a:spLocks noGrp="1"/>
          </p:cNvSpPr>
          <p:nvPr>
            <p:ph idx="1"/>
          </p:nvPr>
        </p:nvSpPr>
        <p:spPr>
          <a:xfrm>
            <a:off x="268605" y="781685"/>
            <a:ext cx="11654790" cy="5756910"/>
          </a:xfrm>
        </p:spPr>
        <p:txBody>
          <a:bodyPr>
            <a:noAutofit/>
          </a:bodyPr>
          <a:p>
            <a:pPr>
              <a:lnSpc>
                <a:spcPct val="140000"/>
              </a:lnSpc>
            </a:pPr>
            <a:r>
              <a:rPr lang="en-US" sz="3600">
                <a:solidFill>
                  <a:srgbClr val="002060"/>
                </a:solidFill>
              </a:rPr>
              <a:t>Squash the cell state with tanh</a:t>
            </a:r>
            <a:endParaRPr lang="en-US" sz="3600">
              <a:solidFill>
                <a:srgbClr val="002060"/>
              </a:solidFill>
            </a:endParaRPr>
          </a:p>
          <a:p>
            <a:pPr>
              <a:lnSpc>
                <a:spcPct val="140000"/>
              </a:lnSpc>
            </a:pPr>
            <a:r>
              <a:rPr lang="en-US" sz="3600">
                <a:solidFill>
                  <a:srgbClr val="002060"/>
                </a:solidFill>
              </a:rPr>
              <a:t>Output gate decides what to show - uses sigmoid</a:t>
            </a:r>
            <a:endParaRPr lang="en-US" sz="3600">
              <a:solidFill>
                <a:srgbClr val="002060"/>
              </a:solidFill>
            </a:endParaRPr>
          </a:p>
          <a:p>
            <a:pPr>
              <a:lnSpc>
                <a:spcPct val="140000"/>
              </a:lnSpc>
            </a:pPr>
            <a:r>
              <a:rPr lang="en-US" sz="3600">
                <a:solidFill>
                  <a:srgbClr val="002060"/>
                </a:solidFill>
              </a:rPr>
              <a:t>Final hidden state - Some memory is revealed</a:t>
            </a:r>
            <a:endParaRPr lang="en-US" sz="3600">
              <a:solidFill>
                <a:srgbClr val="002060"/>
              </a:solidFill>
            </a:endParaRPr>
          </a:p>
          <a:p>
            <a:pPr>
              <a:lnSpc>
                <a:spcPct val="140000"/>
              </a:lnSpc>
            </a:pPr>
            <a:r>
              <a:rPr lang="en-US" sz="3600">
                <a:solidFill>
                  <a:srgbClr val="002060"/>
                </a:solidFill>
              </a:rPr>
              <a:t>Filtering in LSTMs is done via element-wise multiplication because it allows smooth, differentiable, per-dimension control over how much information is passed or blocked.</a:t>
            </a:r>
            <a:endParaRPr lang="en-US" sz="3600">
              <a:solidFill>
                <a:srgbClr val="002060"/>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Choosing Sigmoid</a:t>
            </a:r>
            <a:endParaRPr lang="en-US" sz="3200">
              <a:solidFill>
                <a:srgbClr val="FF0000"/>
              </a:solidFill>
            </a:endParaRPr>
          </a:p>
        </p:txBody>
      </p:sp>
      <p:sp>
        <p:nvSpPr>
          <p:cNvPr id="4" name="Content Placeholder 3"/>
          <p:cNvSpPr>
            <a:spLocks noGrp="1"/>
          </p:cNvSpPr>
          <p:nvPr>
            <p:ph idx="1"/>
          </p:nvPr>
        </p:nvSpPr>
        <p:spPr>
          <a:xfrm>
            <a:off x="268605" y="781685"/>
            <a:ext cx="11654790" cy="5756910"/>
          </a:xfrm>
        </p:spPr>
        <p:txBody>
          <a:bodyPr>
            <a:noAutofit/>
          </a:bodyPr>
          <a:p>
            <a:pPr>
              <a:lnSpc>
                <a:spcPct val="140000"/>
              </a:lnSpc>
            </a:pPr>
            <a:r>
              <a:rPr lang="en-US" sz="3600">
                <a:solidFill>
                  <a:srgbClr val="002060"/>
                </a:solidFill>
              </a:rPr>
              <a:t>Clean control in [0, 1]</a:t>
            </a:r>
            <a:endParaRPr lang="en-US" sz="3600">
              <a:solidFill>
                <a:srgbClr val="002060"/>
              </a:solidFill>
            </a:endParaRPr>
          </a:p>
          <a:p>
            <a:pPr>
              <a:lnSpc>
                <a:spcPct val="140000"/>
              </a:lnSpc>
            </a:pPr>
            <a:r>
              <a:rPr lang="en-US" sz="3600">
                <a:solidFill>
                  <a:srgbClr val="002060"/>
                </a:solidFill>
              </a:rPr>
              <a:t>Differentiable</a:t>
            </a:r>
            <a:endParaRPr lang="en-US" sz="3600">
              <a:solidFill>
                <a:srgbClr val="002060"/>
              </a:solidFill>
            </a:endParaRPr>
          </a:p>
          <a:p>
            <a:pPr>
              <a:lnSpc>
                <a:spcPct val="140000"/>
              </a:lnSpc>
            </a:pPr>
            <a:r>
              <a:rPr lang="en-US" sz="3600">
                <a:solidFill>
                  <a:srgbClr val="002060"/>
                </a:solidFill>
              </a:rPr>
              <a:t>Interpretable</a:t>
            </a:r>
            <a:endParaRPr lang="en-US" sz="3600">
              <a:solidFill>
                <a:srgbClr val="002060"/>
              </a:solidFill>
            </a:endParaRPr>
          </a:p>
          <a:p>
            <a:pPr>
              <a:lnSpc>
                <a:spcPct val="140000"/>
              </a:lnSpc>
            </a:pPr>
            <a:r>
              <a:rPr lang="en-US" sz="3600">
                <a:solidFill>
                  <a:srgbClr val="002060"/>
                </a:solidFill>
              </a:rPr>
              <a:t>Stable gradients</a:t>
            </a:r>
            <a:endParaRPr lang="en-US" sz="3600">
              <a:solidFill>
                <a:srgbClr val="002060"/>
              </a:solidFill>
            </a:endParaRPr>
          </a:p>
          <a:p>
            <a:pPr>
              <a:lnSpc>
                <a:spcPct val="140000"/>
              </a:lnSpc>
            </a:pPr>
            <a:r>
              <a:rPr lang="en-US" sz="3600">
                <a:solidFill>
                  <a:srgbClr val="002060"/>
                </a:solidFill>
              </a:rPr>
              <a:t>Ideal for control, not representation</a:t>
            </a:r>
            <a:endParaRPr lang="en-US" sz="3600">
              <a:solidFill>
                <a:srgbClr val="002060"/>
              </a:solidFill>
            </a:endParaRPr>
          </a:p>
          <a:p>
            <a:pPr>
              <a:lnSpc>
                <a:spcPct val="140000"/>
              </a:lnSpc>
            </a:pPr>
            <a:r>
              <a:rPr lang="en-US" sz="3600">
                <a:solidFill>
                  <a:srgbClr val="002060"/>
                </a:solidFill>
              </a:rPr>
              <a:t>The output gate controls how much of the long-term memory is exposed as the hidden state at the current time step.</a:t>
            </a:r>
            <a:endParaRPr lang="en-US" sz="3600">
              <a:solidFill>
                <a:srgbClr val="00206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LSTM responsibilities</a:t>
            </a:r>
            <a:endParaRPr lang="en-US" sz="3200">
              <a:solidFill>
                <a:srgbClr val="FF0000"/>
              </a:solidFill>
            </a:endParaRPr>
          </a:p>
        </p:txBody>
      </p:sp>
      <p:graphicFrame>
        <p:nvGraphicFramePr>
          <p:cNvPr id="5" name="Content Placeholder 4"/>
          <p:cNvGraphicFramePr/>
          <p:nvPr>
            <p:ph idx="1"/>
          </p:nvPr>
        </p:nvGraphicFramePr>
        <p:xfrm>
          <a:off x="572135" y="782320"/>
          <a:ext cx="10515600" cy="1905000"/>
        </p:xfrm>
        <a:graphic>
          <a:graphicData uri="http://schemas.openxmlformats.org/drawingml/2006/table">
            <a:tbl>
              <a:tblPr firstRow="1" bandRow="1">
                <a:tableStyleId>{5C22544A-7EE6-4342-B048-85BDC9FD1C3A}</a:tableStyleId>
              </a:tblPr>
              <a:tblGrid>
                <a:gridCol w="5257800"/>
                <a:gridCol w="5257800"/>
              </a:tblGrid>
              <a:tr h="381000">
                <a:tc>
                  <a:txBody>
                    <a:bodyPr/>
                    <a:p>
                      <a:pPr>
                        <a:lnSpc>
                          <a:spcPct val="150000"/>
                        </a:lnSpc>
                        <a:buNone/>
                      </a:pPr>
                      <a:r>
                        <a:rPr lang="en-US" sz="4000"/>
                        <a:t>Problem</a:t>
                      </a:r>
                      <a:endParaRPr lang="en-US" sz="4000"/>
                    </a:p>
                  </a:txBody>
                  <a:tcPr/>
                </a:tc>
                <a:tc>
                  <a:txBody>
                    <a:bodyPr/>
                    <a:p>
                      <a:pPr>
                        <a:lnSpc>
                          <a:spcPct val="150000"/>
                        </a:lnSpc>
                        <a:buNone/>
                      </a:pPr>
                      <a:r>
                        <a:rPr lang="en-US" sz="4000"/>
                        <a:t>LSTM solution</a:t>
                      </a:r>
                      <a:endParaRPr lang="en-US" sz="4000"/>
                    </a:p>
                  </a:txBody>
                  <a:tcPr/>
                </a:tc>
              </a:tr>
              <a:tr h="381000">
                <a:tc>
                  <a:txBody>
                    <a:bodyPr/>
                    <a:p>
                      <a:pPr>
                        <a:lnSpc>
                          <a:spcPct val="150000"/>
                        </a:lnSpc>
                        <a:buNone/>
                      </a:pPr>
                      <a:r>
                        <a:rPr lang="en-US" sz="4000"/>
                        <a:t>Forgetting old info</a:t>
                      </a:r>
                      <a:endParaRPr lang="en-US" sz="4000"/>
                    </a:p>
                  </a:txBody>
                  <a:tcPr/>
                </a:tc>
                <a:tc>
                  <a:txBody>
                    <a:bodyPr/>
                    <a:p>
                      <a:pPr>
                        <a:lnSpc>
                          <a:spcPct val="150000"/>
                        </a:lnSpc>
                        <a:buNone/>
                      </a:pPr>
                      <a:r>
                        <a:rPr lang="en-US" sz="4000"/>
                        <a:t>Cell state</a:t>
                      </a:r>
                      <a:endParaRPr lang="en-US" sz="4000"/>
                    </a:p>
                  </a:txBody>
                  <a:tcPr/>
                </a:tc>
              </a:tr>
              <a:tr h="381000">
                <a:tc>
                  <a:txBody>
                    <a:bodyPr/>
                    <a:p>
                      <a:pPr>
                        <a:lnSpc>
                          <a:spcPct val="150000"/>
                        </a:lnSpc>
                        <a:buNone/>
                      </a:pPr>
                      <a:r>
                        <a:rPr lang="en-US" sz="4000"/>
                        <a:t>Reacting to new input</a:t>
                      </a:r>
                      <a:endParaRPr lang="en-US" sz="4000"/>
                    </a:p>
                  </a:txBody>
                  <a:tcPr/>
                </a:tc>
                <a:tc>
                  <a:txBody>
                    <a:bodyPr/>
                    <a:p>
                      <a:pPr>
                        <a:lnSpc>
                          <a:spcPct val="150000"/>
                        </a:lnSpc>
                        <a:buNone/>
                      </a:pPr>
                      <a:r>
                        <a:rPr lang="en-US" sz="4000"/>
                        <a:t>Hidden state</a:t>
                      </a:r>
                      <a:endParaRPr lang="en-US" sz="4000"/>
                    </a:p>
                  </a:txBody>
                  <a:tcPr/>
                </a:tc>
              </a:tr>
              <a:tr h="381000">
                <a:tc>
                  <a:txBody>
                    <a:bodyPr/>
                    <a:p>
                      <a:pPr>
                        <a:lnSpc>
                          <a:spcPct val="150000"/>
                        </a:lnSpc>
                        <a:buNone/>
                      </a:pPr>
                      <a:r>
                        <a:rPr lang="en-US" sz="4000"/>
                        <a:t>Stable gradients</a:t>
                      </a:r>
                      <a:endParaRPr lang="en-US" sz="4000"/>
                    </a:p>
                  </a:txBody>
                  <a:tcPr/>
                </a:tc>
                <a:tc>
                  <a:txBody>
                    <a:bodyPr/>
                    <a:p>
                      <a:pPr>
                        <a:lnSpc>
                          <a:spcPct val="150000"/>
                        </a:lnSpc>
                        <a:buNone/>
                      </a:pPr>
                      <a:r>
                        <a:rPr lang="en-US" sz="4000"/>
                        <a:t>Additive updates</a:t>
                      </a:r>
                      <a:endParaRPr lang="en-US" sz="4000"/>
                    </a:p>
                  </a:txBody>
                  <a:tcPr/>
                </a:tc>
              </a:tr>
              <a:tr h="381000">
                <a:tc>
                  <a:txBody>
                    <a:bodyPr/>
                    <a:p>
                      <a:pPr>
                        <a:lnSpc>
                          <a:spcPct val="150000"/>
                        </a:lnSpc>
                        <a:buNone/>
                      </a:pPr>
                      <a:r>
                        <a:rPr lang="en-US" sz="4000"/>
                        <a:t>Selective exposure</a:t>
                      </a:r>
                      <a:endParaRPr lang="en-US" sz="4000"/>
                    </a:p>
                  </a:txBody>
                  <a:tcPr/>
                </a:tc>
                <a:tc>
                  <a:txBody>
                    <a:bodyPr/>
                    <a:p>
                      <a:pPr>
                        <a:lnSpc>
                          <a:spcPct val="150000"/>
                        </a:lnSpc>
                        <a:buNone/>
                      </a:pPr>
                      <a:r>
                        <a:rPr lang="en-US" sz="4000"/>
                        <a:t>Output gate</a:t>
                      </a:r>
                      <a:endParaRPr lang="en-US" sz="4000"/>
                    </a:p>
                  </a:txBody>
                  <a:tcPr/>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Gated Recurrent Unit (GRU)</a:t>
            </a:r>
            <a:endParaRPr lang="en-US" sz="3200">
              <a:solidFill>
                <a:srgbClr val="FF0000"/>
              </a:solidFill>
            </a:endParaRPr>
          </a:p>
        </p:txBody>
      </p:sp>
      <p:sp>
        <p:nvSpPr>
          <p:cNvPr id="4" name="Content Placeholder 3"/>
          <p:cNvSpPr>
            <a:spLocks noGrp="1"/>
          </p:cNvSpPr>
          <p:nvPr>
            <p:ph idx="1"/>
          </p:nvPr>
        </p:nvSpPr>
        <p:spPr>
          <a:xfrm>
            <a:off x="107950" y="781685"/>
            <a:ext cx="11987530" cy="5756910"/>
          </a:xfrm>
        </p:spPr>
        <p:txBody>
          <a:bodyPr>
            <a:noAutofit/>
          </a:bodyPr>
          <a:p>
            <a:pPr>
              <a:lnSpc>
                <a:spcPct val="120000"/>
              </a:lnSpc>
            </a:pPr>
            <a:r>
              <a:rPr lang="en-US" sz="3600">
                <a:solidFill>
                  <a:srgbClr val="002060"/>
                </a:solidFill>
              </a:rPr>
              <a:t>Merges short-term and long-term memory into a single state ht</a:t>
            </a:r>
            <a:endParaRPr lang="en-US" sz="3600">
              <a:solidFill>
                <a:srgbClr val="002060"/>
              </a:solidFill>
            </a:endParaRPr>
          </a:p>
          <a:p>
            <a:pPr>
              <a:lnSpc>
                <a:spcPct val="120000"/>
              </a:lnSpc>
            </a:pPr>
            <a:r>
              <a:rPr lang="en-US" sz="3600">
                <a:solidFill>
                  <a:srgbClr val="002060"/>
                </a:solidFill>
              </a:rPr>
              <a:t>Two gates are used:</a:t>
            </a:r>
            <a:endParaRPr lang="en-US" sz="3600">
              <a:solidFill>
                <a:srgbClr val="002060"/>
              </a:solidFill>
            </a:endParaRPr>
          </a:p>
          <a:p>
            <a:pPr>
              <a:lnSpc>
                <a:spcPct val="120000"/>
              </a:lnSpc>
            </a:pPr>
            <a:r>
              <a:rPr lang="en-US" sz="3600">
                <a:solidFill>
                  <a:srgbClr val="002060"/>
                </a:solidFill>
              </a:rPr>
              <a:t>Reset gate r</a:t>
            </a:r>
            <a:r>
              <a:rPr lang="en-US" sz="3600" baseline="-25000">
                <a:solidFill>
                  <a:srgbClr val="002060"/>
                </a:solidFill>
              </a:rPr>
              <a:t>t</a:t>
            </a:r>
            <a:r>
              <a:rPr lang="en-US" sz="3600">
                <a:solidFill>
                  <a:srgbClr val="002060"/>
                </a:solidFill>
              </a:rPr>
              <a:t> — how much past to use</a:t>
            </a:r>
            <a:endParaRPr lang="en-US" sz="3600">
              <a:solidFill>
                <a:srgbClr val="002060"/>
              </a:solidFill>
            </a:endParaRPr>
          </a:p>
          <a:p>
            <a:pPr>
              <a:lnSpc>
                <a:spcPct val="120000"/>
              </a:lnSpc>
            </a:pPr>
            <a:r>
              <a:rPr lang="en-US" sz="3600">
                <a:solidFill>
                  <a:srgbClr val="002060"/>
                </a:solidFill>
              </a:rPr>
              <a:t>Update gate zt - keep old or replace?</a:t>
            </a:r>
            <a:endParaRPr lang="en-US" sz="3600">
              <a:solidFill>
                <a:srgbClr val="002060"/>
              </a:solidFill>
            </a:endParaRPr>
          </a:p>
          <a:p>
            <a:pPr>
              <a:lnSpc>
                <a:spcPct val="120000"/>
              </a:lnSpc>
            </a:pPr>
            <a:r>
              <a:rPr lang="en-US" sz="3600">
                <a:solidFill>
                  <a:srgbClr val="002060"/>
                </a:solidFill>
              </a:rPr>
              <a:t>Candidate hidden state h~t</a:t>
            </a:r>
            <a:endParaRPr lang="en-US" sz="3600">
              <a:solidFill>
                <a:srgbClr val="002060"/>
              </a:solidFill>
            </a:endParaRPr>
          </a:p>
          <a:p>
            <a:pPr>
              <a:lnSpc>
                <a:spcPct val="120000"/>
              </a:lnSpc>
            </a:pP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Gated Recurrent Unit (GRU)</a:t>
            </a:r>
            <a:endParaRPr lang="en-US" sz="3200">
              <a:solidFill>
                <a:srgbClr val="FF0000"/>
              </a:solidFill>
            </a:endParaRPr>
          </a:p>
        </p:txBody>
      </p:sp>
      <p:sp>
        <p:nvSpPr>
          <p:cNvPr id="4" name="Content Placeholder 3"/>
          <p:cNvSpPr>
            <a:spLocks noGrp="1"/>
          </p:cNvSpPr>
          <p:nvPr>
            <p:ph idx="1"/>
          </p:nvPr>
        </p:nvSpPr>
        <p:spPr>
          <a:xfrm>
            <a:off x="268605" y="781685"/>
            <a:ext cx="11654790" cy="5756910"/>
          </a:xfrm>
        </p:spPr>
        <p:txBody>
          <a:bodyPr>
            <a:noAutofit/>
          </a:bodyPr>
          <a:p>
            <a:pPr>
              <a:lnSpc>
                <a:spcPct val="140000"/>
              </a:lnSpc>
            </a:pPr>
            <a:r>
              <a:rPr lang="en-US" sz="3600">
                <a:solidFill>
                  <a:srgbClr val="002060"/>
                </a:solidFill>
              </a:rPr>
              <a:t>Combines forget and input gates into a single “update gate.” </a:t>
            </a:r>
            <a:endParaRPr lang="en-US" sz="3600">
              <a:solidFill>
                <a:srgbClr val="002060"/>
              </a:solidFill>
            </a:endParaRPr>
          </a:p>
          <a:p>
            <a:pPr>
              <a:lnSpc>
                <a:spcPct val="140000"/>
              </a:lnSpc>
            </a:pPr>
            <a:r>
              <a:rPr lang="en-US" sz="3600">
                <a:solidFill>
                  <a:srgbClr val="002060"/>
                </a:solidFill>
              </a:rPr>
              <a:t>Also merges the cell state and hidden state, and makes some other changes</a:t>
            </a:r>
            <a:endParaRPr lang="en-US" sz="3600">
              <a:solidFill>
                <a:srgbClr val="002060"/>
              </a:solidFill>
            </a:endParaRPr>
          </a:p>
        </p:txBody>
      </p:sp>
      <p:pic>
        <p:nvPicPr>
          <p:cNvPr id="3" name="Picture 2"/>
          <p:cNvPicPr>
            <a:picLocks noChangeAspect="1"/>
          </p:cNvPicPr>
          <p:nvPr/>
        </p:nvPicPr>
        <p:blipFill>
          <a:blip r:embed="rId1"/>
          <a:stretch>
            <a:fillRect/>
          </a:stretch>
        </p:blipFill>
        <p:spPr>
          <a:xfrm>
            <a:off x="1403985" y="3281045"/>
            <a:ext cx="9384030" cy="289814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32790" y="0"/>
            <a:ext cx="10515600" cy="782320"/>
          </a:xfrm>
        </p:spPr>
        <p:txBody>
          <a:bodyPr>
            <a:normAutofit/>
          </a:bodyPr>
          <a:p>
            <a:pPr algn="ctr"/>
            <a:r>
              <a:rPr lang="en-US" sz="3200">
                <a:solidFill>
                  <a:srgbClr val="FF0000"/>
                </a:solidFill>
              </a:rPr>
              <a:t>Gated Recurrent Unit (GRU)</a:t>
            </a:r>
            <a:endParaRPr lang="en-US" sz="3200">
              <a:solidFill>
                <a:srgbClr val="FF0000"/>
              </a:solidFill>
            </a:endParaRPr>
          </a:p>
        </p:txBody>
      </p:sp>
      <p:sp>
        <p:nvSpPr>
          <p:cNvPr id="4" name="Content Placeholder 3"/>
          <p:cNvSpPr>
            <a:spLocks noGrp="1"/>
          </p:cNvSpPr>
          <p:nvPr>
            <p:ph idx="1"/>
          </p:nvPr>
        </p:nvSpPr>
        <p:spPr>
          <a:xfrm>
            <a:off x="107950" y="781685"/>
            <a:ext cx="11987530" cy="5756910"/>
          </a:xfrm>
        </p:spPr>
        <p:txBody>
          <a:bodyPr>
            <a:noAutofit/>
          </a:bodyPr>
          <a:p>
            <a:pPr>
              <a:lnSpc>
                <a:spcPct val="120000"/>
              </a:lnSpc>
            </a:pPr>
            <a:r>
              <a:rPr lang="en-US" sz="3600">
                <a:solidFill>
                  <a:srgbClr val="002060"/>
                </a:solidFill>
              </a:rPr>
              <a:t>Reset gate r</a:t>
            </a:r>
            <a:r>
              <a:rPr lang="en-US" sz="3600" baseline="-25000">
                <a:solidFill>
                  <a:srgbClr val="002060"/>
                </a:solidFill>
              </a:rPr>
              <a:t>t</a:t>
            </a:r>
            <a:r>
              <a:rPr lang="en-US" sz="3600">
                <a:solidFill>
                  <a:srgbClr val="002060"/>
                </a:solidFill>
              </a:rPr>
              <a:t> — how much past to use</a:t>
            </a:r>
            <a:endParaRPr lang="en-US" sz="3600">
              <a:solidFill>
                <a:srgbClr val="002060"/>
              </a:solidFill>
            </a:endParaRPr>
          </a:p>
          <a:p>
            <a:pPr lvl="1">
              <a:lnSpc>
                <a:spcPct val="120000"/>
              </a:lnSpc>
            </a:pPr>
            <a:r>
              <a:rPr lang="en-US" sz="3240">
                <a:solidFill>
                  <a:srgbClr val="002060"/>
                </a:solidFill>
              </a:rPr>
              <a:t>Use sigmoid function, multiplies h</a:t>
            </a:r>
            <a:r>
              <a:rPr lang="en-US" sz="3240" baseline="-25000">
                <a:solidFill>
                  <a:srgbClr val="002060"/>
                </a:solidFill>
              </a:rPr>
              <a:t>t-1</a:t>
            </a:r>
            <a:endParaRPr lang="en-US" sz="3240">
              <a:solidFill>
                <a:srgbClr val="002060"/>
              </a:solidFill>
            </a:endParaRPr>
          </a:p>
          <a:p>
            <a:pPr>
              <a:lnSpc>
                <a:spcPct val="120000"/>
              </a:lnSpc>
            </a:pPr>
            <a:r>
              <a:rPr lang="en-US" sz="3600">
                <a:solidFill>
                  <a:srgbClr val="002060"/>
                </a:solidFill>
              </a:rPr>
              <a:t>Right bottom (tanh block)</a:t>
            </a:r>
            <a:endParaRPr lang="en-US" sz="3600">
              <a:solidFill>
                <a:srgbClr val="002060"/>
              </a:solidFill>
            </a:endParaRPr>
          </a:p>
          <a:p>
            <a:pPr lvl="1">
              <a:lnSpc>
                <a:spcPct val="120000"/>
              </a:lnSpc>
            </a:pPr>
            <a:r>
              <a:rPr lang="en-US" sz="3240">
                <a:solidFill>
                  <a:srgbClr val="002060"/>
                </a:solidFill>
              </a:rPr>
              <a:t>Uses filtered past + current input</a:t>
            </a:r>
            <a:endParaRPr lang="en-US" sz="3240">
              <a:solidFill>
                <a:srgbClr val="002060"/>
              </a:solidFill>
            </a:endParaRPr>
          </a:p>
          <a:p>
            <a:pPr lvl="1">
              <a:lnSpc>
                <a:spcPct val="120000"/>
              </a:lnSpc>
            </a:pPr>
            <a:r>
              <a:rPr lang="en-US" sz="3200">
                <a:solidFill>
                  <a:srgbClr val="002060"/>
                </a:solidFill>
              </a:rPr>
              <a:t>Produces new candidate information</a:t>
            </a:r>
            <a:endParaRPr lang="en-US" sz="3200">
              <a:solidFill>
                <a:srgbClr val="002060"/>
              </a:solidFill>
            </a:endParaRPr>
          </a:p>
          <a:p>
            <a:pPr lvl="0">
              <a:lnSpc>
                <a:spcPct val="120000"/>
              </a:lnSpc>
            </a:pPr>
            <a:r>
              <a:rPr lang="en-US" sz="3555">
                <a:solidFill>
                  <a:srgbClr val="002060"/>
                </a:solidFill>
              </a:rPr>
              <a:t>Update gate z</a:t>
            </a:r>
            <a:r>
              <a:rPr lang="en-US" sz="3555" baseline="-25000">
                <a:solidFill>
                  <a:srgbClr val="002060"/>
                </a:solidFill>
              </a:rPr>
              <a:t>t</a:t>
            </a:r>
            <a:r>
              <a:rPr lang="en-US" sz="3555">
                <a:solidFill>
                  <a:srgbClr val="002060"/>
                </a:solidFill>
              </a:rPr>
              <a:t> — keep old or replace?</a:t>
            </a:r>
            <a:endParaRPr lang="en-US" sz="3555">
              <a:solidFill>
                <a:srgbClr val="002060"/>
              </a:solidFill>
            </a:endParaRPr>
          </a:p>
          <a:p>
            <a:pPr lvl="1">
              <a:lnSpc>
                <a:spcPct val="120000"/>
              </a:lnSpc>
            </a:pPr>
            <a:r>
              <a:rPr lang="en-US" sz="3195">
                <a:solidFill>
                  <a:srgbClr val="002060"/>
                </a:solidFill>
              </a:rPr>
              <a:t>Uses sigmoid function once again</a:t>
            </a:r>
            <a:endParaRPr lang="en-US" sz="3195">
              <a:solidFill>
                <a:srgbClr val="002060"/>
              </a:solidFill>
            </a:endParaRPr>
          </a:p>
          <a:p>
            <a:pPr>
              <a:lnSpc>
                <a:spcPct val="120000"/>
              </a:lnSpc>
            </a:pPr>
            <a:endParaRPr lang="en-US" sz="3600">
              <a:solidFill>
                <a:srgbClr val="002060"/>
              </a:solidFill>
            </a:endParaRPr>
          </a:p>
          <a:p>
            <a:pPr>
              <a:lnSpc>
                <a:spcPct val="140000"/>
              </a:lnSpc>
            </a:pPr>
            <a:endParaRPr lang="en-US" sz="3600">
              <a:solidFill>
                <a:srgbClr val="002060"/>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10112</Words>
  <Application>WPS Presentation</Application>
  <PresentationFormat>宽屏</PresentationFormat>
  <Paragraphs>341</Paragraphs>
  <Slides>48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48</vt:i4>
      </vt:variant>
    </vt:vector>
  </HeadingPairs>
  <TitlesOfParts>
    <vt:vector size="65" baseType="lpstr">
      <vt:lpstr>Arial</vt:lpstr>
      <vt:lpstr>SimSun</vt:lpstr>
      <vt:lpstr>Wingdings</vt:lpstr>
      <vt:lpstr>Nimbus Roman No9 L</vt:lpstr>
      <vt:lpstr>Arial Black</vt:lpstr>
      <vt:lpstr>Microsoft YaHei</vt:lpstr>
      <vt:lpstr>Droid Sans Fallback</vt:lpstr>
      <vt:lpstr>Arial Unicode MS</vt:lpstr>
      <vt:lpstr>SimSun</vt:lpstr>
      <vt:lpstr>OpenSymbol</vt:lpstr>
      <vt:lpstr>SimSun</vt:lpstr>
      <vt:lpstr>AR PL UMing CN</vt:lpstr>
      <vt:lpstr>Abyssinica SIL</vt:lpstr>
      <vt:lpstr>文鼎ＰＬ简中楷</vt:lpstr>
      <vt:lpstr>Calibri</vt:lpstr>
      <vt:lpstr>DejaVu Sans</vt:lpstr>
      <vt:lpstr>Office Theme</vt:lpstr>
      <vt:lpstr>PowerPoint 演示文稿</vt:lpstr>
      <vt:lpstr>PowerPoint 演示文稿</vt:lpstr>
      <vt:lpstr>Recurrent Neural Networks</vt:lpstr>
      <vt:lpstr>Recurrent Neural Networks</vt:lpstr>
      <vt:lpstr>Recurrent Neural Networks</vt:lpstr>
      <vt:lpstr>Look at recent information to perform present task</vt:lpstr>
      <vt:lpstr>Need more context</vt:lpstr>
      <vt:lpstr>Need more context</vt:lpstr>
      <vt:lpstr>LSTM Networks</vt:lpstr>
      <vt:lpstr>LSTM Networks</vt:lpstr>
      <vt:lpstr>LSTM Networks</vt:lpstr>
      <vt:lpstr>Memories in LSTM</vt:lpstr>
      <vt:lpstr>Memories in LSTM</vt:lpstr>
      <vt:lpstr>Classic RNNs</vt:lpstr>
      <vt:lpstr>Think of the cell state as a conveyor belt</vt:lpstr>
      <vt:lpstr>Long-term memory: the cell state Ct</vt:lpstr>
      <vt:lpstr>Example</vt:lpstr>
      <vt:lpstr>Short-term memory: the hidden state ht</vt:lpstr>
      <vt:lpstr>LSTM Networks</vt:lpstr>
      <vt:lpstr>Core Idea Behind LSTMs</vt:lpstr>
      <vt:lpstr>Core Idea Behind LSTMs</vt:lpstr>
      <vt:lpstr>Core Idea Behind LSTMs</vt:lpstr>
      <vt:lpstr>Core Idea Behind LSTMs</vt:lpstr>
      <vt:lpstr>LSTM Gates</vt:lpstr>
      <vt:lpstr>Forget Gate</vt:lpstr>
      <vt:lpstr>Forget Gate</vt:lpstr>
      <vt:lpstr>Decide what to store in the cell state</vt:lpstr>
      <vt:lpstr>Forget Gate</vt:lpstr>
      <vt:lpstr>Decide what to store in the cell state</vt:lpstr>
      <vt:lpstr>Decide what to store in the cell state</vt:lpstr>
      <vt:lpstr>Decide what to store in the cell state</vt:lpstr>
      <vt:lpstr>Decide what to store in the cell state</vt:lpstr>
      <vt:lpstr>Update Cell State</vt:lpstr>
      <vt:lpstr>Update Cell State</vt:lpstr>
      <vt:lpstr>Update Cell State</vt:lpstr>
      <vt:lpstr>Candidate memory</vt:lpstr>
      <vt:lpstr>Input gate decides what to write</vt:lpstr>
      <vt:lpstr>Combine both: update memory</vt:lpstr>
      <vt:lpstr>Decide what to store in the cell state</vt:lpstr>
      <vt:lpstr>Decide what to Output</vt:lpstr>
      <vt:lpstr>Update Cell State</vt:lpstr>
      <vt:lpstr>Output Layer</vt:lpstr>
      <vt:lpstr>Output Layer</vt:lpstr>
      <vt:lpstr>Output Layer</vt:lpstr>
      <vt:lpstr>Example</vt:lpstr>
      <vt:lpstr>Gated Recurrent Unit (GRU)</vt:lpstr>
      <vt:lpstr>Choosing Sigmoid</vt:lpstr>
      <vt:lpstr>Gated Recurrent Unit (GRU)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janaki</cp:lastModifiedBy>
  <cp:revision>171</cp:revision>
  <dcterms:created xsi:type="dcterms:W3CDTF">2026-02-09T02:38:39Z</dcterms:created>
  <dcterms:modified xsi:type="dcterms:W3CDTF">2026-02-09T02:38:39Z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1033-11.1.0.11723</vt:lpwstr>
  </property>
  <property fmtid="{D5CDD505-2E9C-101B-9397-08002B2CF9AE}" pid="3" name="ICV">
    <vt:lpwstr/>
  </property>
</Properties>
</file>
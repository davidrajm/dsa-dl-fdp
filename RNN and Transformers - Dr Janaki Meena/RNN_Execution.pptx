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6" r:id="rId3"/>
    <p:sldId id="257" r:id="rId4"/>
    <p:sldId id="259" r:id="rId5"/>
    <p:sldId id="258" r:id="rId6"/>
    <p:sldId id="260" r:id="rId7"/>
    <p:sldId id="261" r:id="rId8"/>
    <p:sldId id="262" r:id="rId9"/>
    <p:sldId id="263" r:id="rId10"/>
    <p:sldId id="264" r:id="rId11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handoutMaster" Target="handoutMasters/handoutMaster1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Click to edit Master subtitle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8088" cy="811530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Click to edit Master text styles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直接连接符 7" hidden="1"/>
          <p:cNvCxnSpPr/>
          <p:nvPr userDrawn="1"/>
        </p:nvCxnSpPr>
        <p:spPr>
          <a:xfrm>
            <a:off x="742950" y="434340"/>
            <a:ext cx="0" cy="13912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0445" y="120015"/>
            <a:ext cx="10515600" cy="760730"/>
          </a:xfrm>
        </p:spPr>
        <p:txBody>
          <a:bodyPr>
            <a:normAutofit fontScale="90000"/>
          </a:bodyPr>
          <a:p>
            <a:pPr algn="ctr"/>
            <a:r>
              <a:rPr lang="en-US" sz="4800">
                <a:solidFill>
                  <a:srgbClr val="FF0000"/>
                </a:solidFill>
              </a:rPr>
              <a:t>Problem Statement</a:t>
            </a:r>
            <a:endParaRPr lang="en-US" sz="480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8275" y="781685"/>
            <a:ext cx="11814810" cy="5746750"/>
          </a:xfrm>
        </p:spPr>
        <p:txBody>
          <a:bodyPr>
            <a:noAutofit/>
          </a:bodyPr>
          <a:p>
            <a:pPr marL="0" indent="0">
              <a:lnSpc>
                <a:spcPct val="100000"/>
              </a:lnSpc>
              <a:buNone/>
            </a:pPr>
            <a:r>
              <a:rPr lang="en-US" sz="4000" b="1">
                <a:solidFill>
                  <a:srgbClr val="002060"/>
                </a:solidFill>
              </a:rPr>
              <a:t>Input:</a:t>
            </a:r>
            <a:endParaRPr lang="en-US" sz="4000">
              <a:solidFill>
                <a:srgbClr val="002060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4000">
                <a:solidFill>
                  <a:srgbClr val="002060"/>
                </a:solidFill>
              </a:rPr>
              <a:t>i like ai</a:t>
            </a:r>
            <a:endParaRPr lang="en-US" sz="4000">
              <a:solidFill>
                <a:srgbClr val="002060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4000">
              <a:solidFill>
                <a:srgbClr val="002060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4000" b="1">
                <a:solidFill>
                  <a:srgbClr val="002060"/>
                </a:solidFill>
              </a:rPr>
              <a:t>Output:</a:t>
            </a:r>
            <a:endParaRPr lang="en-US" sz="4000">
              <a:solidFill>
                <a:srgbClr val="002060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4000">
                <a:solidFill>
                  <a:srgbClr val="002060"/>
                </a:solidFill>
              </a:rPr>
              <a:t>ai like i</a:t>
            </a:r>
            <a:endParaRPr lang="en-US" sz="400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0445" y="120015"/>
            <a:ext cx="10515600" cy="760730"/>
          </a:xfrm>
        </p:spPr>
        <p:txBody>
          <a:bodyPr>
            <a:normAutofit fontScale="90000"/>
          </a:bodyPr>
          <a:p>
            <a:pPr algn="ctr"/>
            <a:r>
              <a:rPr lang="en-US" sz="4800">
                <a:solidFill>
                  <a:srgbClr val="FF0000"/>
                </a:solidFill>
              </a:rPr>
              <a:t>Execution Flow</a:t>
            </a:r>
            <a:endParaRPr lang="en-US" sz="480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8275" y="781685"/>
            <a:ext cx="11814810" cy="5746750"/>
          </a:xfrm>
        </p:spPr>
        <p:txBody>
          <a:bodyPr>
            <a:noAutofit/>
          </a:bodyPr>
          <a:p>
            <a:pPr marL="0" indent="0">
              <a:lnSpc>
                <a:spcPct val="80000"/>
              </a:lnSpc>
              <a:buNone/>
            </a:pPr>
            <a:r>
              <a:rPr lang="en-US" sz="2800">
                <a:solidFill>
                  <a:srgbClr val="002060"/>
                </a:solidFill>
              </a:rPr>
              <a:t>1. Load libraries</a:t>
            </a:r>
            <a:endParaRPr lang="en-US" sz="2800">
              <a:solidFill>
                <a:srgbClr val="002060"/>
              </a:solidFill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sz="2800">
                <a:solidFill>
                  <a:srgbClr val="002060"/>
                </a:solidFill>
              </a:rPr>
              <a:t>2. Create vocabulary + data</a:t>
            </a:r>
            <a:endParaRPr lang="en-US" sz="2800">
              <a:solidFill>
                <a:srgbClr val="002060"/>
              </a:solidFill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sz="2800">
                <a:solidFill>
                  <a:srgbClr val="002060"/>
                </a:solidFill>
              </a:rPr>
              <a:t>3. Define classes (no execution)</a:t>
            </a:r>
            <a:endParaRPr lang="en-US" sz="2800">
              <a:solidFill>
                <a:srgbClr val="002060"/>
              </a:solidFill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sz="2800">
                <a:solidFill>
                  <a:srgbClr val="002060"/>
                </a:solidFill>
              </a:rPr>
              <a:t>4. Initialize model (objects created)</a:t>
            </a:r>
            <a:endParaRPr lang="en-US" sz="2800">
              <a:solidFill>
                <a:srgbClr val="002060"/>
              </a:solidFill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sz="2800">
                <a:solidFill>
                  <a:srgbClr val="002060"/>
                </a:solidFill>
              </a:rPr>
              <a:t>5. Start training loop</a:t>
            </a:r>
            <a:endParaRPr lang="en-US" sz="2800">
              <a:solidFill>
                <a:srgbClr val="002060"/>
              </a:solidFill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sz="2800">
                <a:solidFill>
                  <a:srgbClr val="002060"/>
                </a:solidFill>
              </a:rPr>
              <a:t>     → Forward pass (Encoder → Decoder loop)</a:t>
            </a:r>
            <a:endParaRPr lang="en-US" sz="2800">
              <a:solidFill>
                <a:srgbClr val="002060"/>
              </a:solidFill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sz="2800">
                <a:solidFill>
                  <a:srgbClr val="002060"/>
                </a:solidFill>
              </a:rPr>
              <a:t>     → Loss computation</a:t>
            </a:r>
            <a:endParaRPr lang="en-US" sz="2800">
              <a:solidFill>
                <a:srgbClr val="002060"/>
              </a:solidFill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sz="2800">
                <a:solidFill>
                  <a:srgbClr val="002060"/>
                </a:solidFill>
              </a:rPr>
              <a:t>     → Backpropagation</a:t>
            </a:r>
            <a:endParaRPr lang="en-US" sz="2800">
              <a:solidFill>
                <a:srgbClr val="002060"/>
              </a:solidFill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sz="2800">
                <a:solidFill>
                  <a:srgbClr val="002060"/>
                </a:solidFill>
              </a:rPr>
              <a:t>     → Weight update</a:t>
            </a:r>
            <a:endParaRPr lang="en-US" sz="2800">
              <a:solidFill>
                <a:srgbClr val="002060"/>
              </a:solidFill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sz="2800">
                <a:solidFill>
                  <a:srgbClr val="002060"/>
                </a:solidFill>
              </a:rPr>
              <a:t>6. After training → Inference</a:t>
            </a:r>
            <a:endParaRPr lang="en-US" sz="2800">
              <a:solidFill>
                <a:srgbClr val="002060"/>
              </a:solidFill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sz="2800">
                <a:solidFill>
                  <a:srgbClr val="002060"/>
                </a:solidFill>
              </a:rPr>
              <a:t>     → Encoder</a:t>
            </a:r>
            <a:endParaRPr lang="en-US" sz="2800">
              <a:solidFill>
                <a:srgbClr val="002060"/>
              </a:solidFill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sz="2800">
                <a:solidFill>
                  <a:srgbClr val="002060"/>
                </a:solidFill>
              </a:rPr>
              <a:t>     → Decoder (step-by-step generation)</a:t>
            </a:r>
            <a:endParaRPr lang="en-US" sz="2800">
              <a:solidFill>
                <a:srgbClr val="002060"/>
              </a:solidFill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sz="2800">
                <a:solidFill>
                  <a:srgbClr val="002060"/>
                </a:solidFill>
              </a:rPr>
              <a:t>     → Output sentence</a:t>
            </a:r>
            <a:endParaRPr lang="en-US" sz="280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0445" y="120015"/>
            <a:ext cx="10515600" cy="760730"/>
          </a:xfrm>
        </p:spPr>
        <p:txBody>
          <a:bodyPr>
            <a:normAutofit fontScale="90000"/>
          </a:bodyPr>
          <a:p>
            <a:pPr algn="ctr"/>
            <a:r>
              <a:rPr lang="en-US" sz="4800">
                <a:solidFill>
                  <a:srgbClr val="FF0000"/>
                </a:solidFill>
              </a:rPr>
              <a:t>Execution Flow</a:t>
            </a:r>
            <a:endParaRPr lang="en-US" sz="480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8275" y="781685"/>
            <a:ext cx="11814810" cy="5746750"/>
          </a:xfrm>
        </p:spPr>
        <p:txBody>
          <a:bodyPr>
            <a:noAutofit/>
          </a:bodyPr>
          <a:p>
            <a:pPr marL="0" indent="0">
              <a:lnSpc>
                <a:spcPct val="80000"/>
              </a:lnSpc>
              <a:buNone/>
            </a:pPr>
            <a:r>
              <a:rPr lang="en-US" sz="2800" b="1">
                <a:solidFill>
                  <a:srgbClr val="002060"/>
                </a:solidFill>
              </a:rPr>
              <a:t>During Training</a:t>
            </a:r>
            <a:endParaRPr lang="en-US" sz="2800">
              <a:solidFill>
                <a:srgbClr val="002060"/>
              </a:solidFill>
            </a:endParaRPr>
          </a:p>
          <a:p>
            <a:pPr marL="0" indent="0">
              <a:lnSpc>
                <a:spcPct val="80000"/>
              </a:lnSpc>
              <a:buNone/>
            </a:pPr>
            <a:endParaRPr lang="en-US" sz="2800">
              <a:solidFill>
                <a:srgbClr val="002060"/>
              </a:solidFill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sz="2800">
                <a:solidFill>
                  <a:srgbClr val="002060"/>
                </a:solidFill>
              </a:rPr>
              <a:t>Input → Encoder → Decoder (teacher forcing) → Loss → Update</a:t>
            </a:r>
            <a:endParaRPr lang="en-US" sz="2800">
              <a:solidFill>
                <a:srgbClr val="002060"/>
              </a:solidFill>
            </a:endParaRPr>
          </a:p>
          <a:p>
            <a:pPr marL="0" indent="0">
              <a:lnSpc>
                <a:spcPct val="80000"/>
              </a:lnSpc>
              <a:buNone/>
            </a:pPr>
            <a:endParaRPr lang="en-US" sz="2800">
              <a:solidFill>
                <a:srgbClr val="002060"/>
              </a:solidFill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sz="2800" b="1">
                <a:solidFill>
                  <a:srgbClr val="002060"/>
                </a:solidFill>
              </a:rPr>
              <a:t>During Inference</a:t>
            </a:r>
            <a:endParaRPr lang="en-US" sz="2800">
              <a:solidFill>
                <a:srgbClr val="002060"/>
              </a:solidFill>
            </a:endParaRPr>
          </a:p>
          <a:p>
            <a:pPr marL="0" indent="0">
              <a:lnSpc>
                <a:spcPct val="80000"/>
              </a:lnSpc>
              <a:buNone/>
            </a:pPr>
            <a:endParaRPr lang="en-US" sz="2800">
              <a:solidFill>
                <a:srgbClr val="002060"/>
              </a:solidFill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sz="2800">
                <a:solidFill>
                  <a:srgbClr val="002060"/>
                </a:solidFill>
              </a:rPr>
              <a:t>Input → Encoder → Decoder (uses its own predictions) → Output</a:t>
            </a:r>
            <a:endParaRPr lang="en-US" sz="280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0445" y="120015"/>
            <a:ext cx="10515600" cy="760730"/>
          </a:xfrm>
        </p:spPr>
        <p:txBody>
          <a:bodyPr>
            <a:normAutofit fontScale="90000"/>
          </a:bodyPr>
          <a:p>
            <a:pPr algn="ctr"/>
            <a:r>
              <a:rPr lang="en-US" sz="4800">
                <a:solidFill>
                  <a:srgbClr val="FF0000"/>
                </a:solidFill>
              </a:rPr>
              <a:t>Text → Numbers (Tokenization)</a:t>
            </a:r>
            <a:endParaRPr lang="en-US" sz="480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8275" y="781685"/>
            <a:ext cx="11814810" cy="5746750"/>
          </a:xfrm>
        </p:spPr>
        <p:txBody>
          <a:bodyPr>
            <a:noAutofit/>
          </a:bodyPr>
          <a:p>
            <a:pPr marL="0" indent="0">
              <a:lnSpc>
                <a:spcPct val="80000"/>
              </a:lnSpc>
              <a:buNone/>
            </a:pPr>
            <a:r>
              <a:rPr lang="en-US" sz="2800" b="1">
                <a:solidFill>
                  <a:srgbClr val="002060"/>
                </a:solidFill>
              </a:rPr>
              <a:t>Vocabulary:</a:t>
            </a:r>
            <a:endParaRPr lang="en-US" sz="2800">
              <a:solidFill>
                <a:srgbClr val="002060"/>
              </a:solidFill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sz="2800">
                <a:solidFill>
                  <a:srgbClr val="002060"/>
                </a:solidFill>
              </a:rPr>
              <a:t>&lt;pad&gt;, &lt;sos&gt;, &lt;eos&gt;, i, like, ai</a:t>
            </a:r>
            <a:endParaRPr lang="en-US" sz="2800">
              <a:solidFill>
                <a:srgbClr val="002060"/>
              </a:solidFill>
            </a:endParaRPr>
          </a:p>
          <a:p>
            <a:pPr marL="0" indent="0">
              <a:lnSpc>
                <a:spcPct val="80000"/>
              </a:lnSpc>
              <a:buNone/>
            </a:pPr>
            <a:endParaRPr lang="en-US" sz="2800">
              <a:solidFill>
                <a:srgbClr val="002060"/>
              </a:solidFill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sz="2800">
                <a:solidFill>
                  <a:srgbClr val="002060"/>
                </a:solidFill>
              </a:rPr>
              <a:t>i → 3</a:t>
            </a:r>
            <a:endParaRPr lang="en-US" sz="2800">
              <a:solidFill>
                <a:srgbClr val="002060"/>
              </a:solidFill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sz="2800">
                <a:solidFill>
                  <a:srgbClr val="002060"/>
                </a:solidFill>
              </a:rPr>
              <a:t>like → 4</a:t>
            </a:r>
            <a:endParaRPr lang="en-US" sz="2800">
              <a:solidFill>
                <a:srgbClr val="002060"/>
              </a:solidFill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sz="2800">
                <a:solidFill>
                  <a:srgbClr val="002060"/>
                </a:solidFill>
              </a:rPr>
              <a:t>ai → 5</a:t>
            </a:r>
            <a:endParaRPr lang="en-US" sz="2800">
              <a:solidFill>
                <a:srgbClr val="002060"/>
              </a:solidFill>
            </a:endParaRPr>
          </a:p>
          <a:p>
            <a:pPr marL="0" indent="0">
              <a:lnSpc>
                <a:spcPct val="80000"/>
              </a:lnSpc>
              <a:buNone/>
            </a:pPr>
            <a:endParaRPr lang="en-US" sz="2800">
              <a:solidFill>
                <a:srgbClr val="002060"/>
              </a:solidFill>
            </a:endParaRPr>
          </a:p>
          <a:p>
            <a:pPr marL="0" indent="0">
              <a:lnSpc>
                <a:spcPct val="80000"/>
              </a:lnSpc>
              <a:buNone/>
            </a:pPr>
            <a:endParaRPr lang="en-US" sz="2800">
              <a:solidFill>
                <a:srgbClr val="002060"/>
              </a:solidFill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sz="2800">
                <a:solidFill>
                  <a:srgbClr val="002060"/>
                </a:solidFill>
              </a:rPr>
              <a:t>Neural networks understand only numbers</a:t>
            </a:r>
            <a:endParaRPr lang="en-US" sz="280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0445" y="120015"/>
            <a:ext cx="10515600" cy="760730"/>
          </a:xfrm>
        </p:spPr>
        <p:txBody>
          <a:bodyPr>
            <a:normAutofit fontScale="90000"/>
          </a:bodyPr>
          <a:p>
            <a:pPr algn="ctr"/>
            <a:r>
              <a:rPr lang="en-US" sz="4800">
                <a:solidFill>
                  <a:srgbClr val="FF0000"/>
                </a:solidFill>
              </a:rPr>
              <a:t>Model Architecture</a:t>
            </a:r>
            <a:endParaRPr lang="en-US" sz="480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8275" y="781685"/>
            <a:ext cx="11814810" cy="5746750"/>
          </a:xfrm>
        </p:spPr>
        <p:txBody>
          <a:bodyPr>
            <a:noAutofit/>
          </a:bodyPr>
          <a:p>
            <a:pPr marL="0" indent="0">
              <a:lnSpc>
                <a:spcPct val="130000"/>
              </a:lnSpc>
              <a:buNone/>
            </a:pPr>
            <a:r>
              <a:rPr lang="en-US" sz="2800" b="1">
                <a:solidFill>
                  <a:srgbClr val="002060"/>
                </a:solidFill>
              </a:rPr>
              <a:t>Input → Encoder → Hidden State → Decoder → Output</a:t>
            </a:r>
            <a:endParaRPr lang="en-US" sz="2800" b="1">
              <a:solidFill>
                <a:srgbClr val="002060"/>
              </a:solidFill>
            </a:endParaRPr>
          </a:p>
          <a:p>
            <a:pPr marL="0" indent="0">
              <a:lnSpc>
                <a:spcPct val="130000"/>
              </a:lnSpc>
              <a:buNone/>
            </a:pPr>
            <a:endParaRPr lang="en-US" sz="2800" b="1">
              <a:solidFill>
                <a:srgbClr val="002060"/>
              </a:solidFill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2800" b="1">
                <a:solidFill>
                  <a:srgbClr val="002060"/>
                </a:solidFill>
              </a:rPr>
              <a:t>Encoder compresses</a:t>
            </a:r>
            <a:endParaRPr lang="en-US" sz="2800" b="1">
              <a:solidFill>
                <a:srgbClr val="002060"/>
              </a:solidFill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2800" b="1">
                <a:solidFill>
                  <a:srgbClr val="002060"/>
                </a:solidFill>
              </a:rPr>
              <a:t>Decoder generates</a:t>
            </a:r>
            <a:endParaRPr lang="en-US" sz="2800" b="1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0445" y="120015"/>
            <a:ext cx="10515600" cy="760730"/>
          </a:xfrm>
        </p:spPr>
        <p:txBody>
          <a:bodyPr>
            <a:normAutofit fontScale="90000"/>
          </a:bodyPr>
          <a:p>
            <a:pPr algn="ctr"/>
            <a:r>
              <a:rPr lang="en-US" sz="4800">
                <a:solidFill>
                  <a:srgbClr val="FF0000"/>
                </a:solidFill>
              </a:rPr>
              <a:t>Encoder (Concept)</a:t>
            </a:r>
            <a:endParaRPr lang="en-US" sz="480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8275" y="781685"/>
            <a:ext cx="11814810" cy="5746750"/>
          </a:xfrm>
        </p:spPr>
        <p:txBody>
          <a:bodyPr>
            <a:noAutofit/>
          </a:bodyPr>
          <a:p>
            <a:pPr marL="0" indent="0">
              <a:lnSpc>
                <a:spcPct val="130000"/>
              </a:lnSpc>
              <a:buNone/>
            </a:pPr>
            <a:r>
              <a:rPr lang="en-US" sz="2800">
                <a:solidFill>
                  <a:srgbClr val="002060"/>
                </a:solidFill>
              </a:rPr>
              <a:t>Reads entire input sequence</a:t>
            </a:r>
            <a:endParaRPr lang="en-US" sz="2800">
              <a:solidFill>
                <a:srgbClr val="002060"/>
              </a:solidFill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2800">
                <a:solidFill>
                  <a:srgbClr val="002060"/>
                </a:solidFill>
              </a:rPr>
              <a:t>Produces final hidden state</a:t>
            </a:r>
            <a:endParaRPr lang="en-US" sz="2800">
              <a:solidFill>
                <a:srgbClr val="002060"/>
              </a:solidFill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2800">
                <a:solidFill>
                  <a:srgbClr val="002060"/>
                </a:solidFill>
              </a:rPr>
              <a:t>[i → like → ai] → hidden vector</a:t>
            </a:r>
            <a:endParaRPr lang="en-US" sz="2800">
              <a:solidFill>
                <a:srgbClr val="002060"/>
              </a:solidFill>
            </a:endParaRPr>
          </a:p>
          <a:p>
            <a:pPr marL="0" indent="0">
              <a:lnSpc>
                <a:spcPct val="130000"/>
              </a:lnSpc>
              <a:buNone/>
            </a:pPr>
            <a:endParaRPr lang="en-US" sz="2800">
              <a:solidFill>
                <a:srgbClr val="002060"/>
              </a:solidFill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2800">
                <a:solidFill>
                  <a:srgbClr val="002060"/>
                </a:solidFill>
              </a:rPr>
              <a:t>Acts like “summary of sentence”</a:t>
            </a:r>
            <a:endParaRPr lang="en-US" sz="280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0445" y="120015"/>
            <a:ext cx="10515600" cy="760730"/>
          </a:xfrm>
        </p:spPr>
        <p:txBody>
          <a:bodyPr>
            <a:normAutofit fontScale="90000"/>
          </a:bodyPr>
          <a:p>
            <a:pPr algn="ctr"/>
            <a:r>
              <a:rPr lang="en-US" sz="4800">
                <a:solidFill>
                  <a:srgbClr val="FF0000"/>
                </a:solidFill>
              </a:rPr>
              <a:t>Decoder (Code Flow)</a:t>
            </a:r>
            <a:endParaRPr lang="en-US" sz="480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8275" y="781685"/>
            <a:ext cx="11814810" cy="5746750"/>
          </a:xfrm>
        </p:spPr>
        <p:txBody>
          <a:bodyPr>
            <a:noAutofit/>
          </a:bodyPr>
          <a:p>
            <a:pPr marL="0" indent="0">
              <a:lnSpc>
                <a:spcPct val="130000"/>
              </a:lnSpc>
              <a:buNone/>
            </a:pPr>
            <a:r>
              <a:rPr lang="en-US" sz="2800">
                <a:solidFill>
                  <a:srgbClr val="002060"/>
                </a:solidFill>
              </a:rPr>
              <a:t>Takes input token</a:t>
            </a:r>
            <a:endParaRPr lang="en-US" sz="2800">
              <a:solidFill>
                <a:srgbClr val="002060"/>
              </a:solidFill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2800">
                <a:solidFill>
                  <a:srgbClr val="002060"/>
                </a:solidFill>
              </a:rPr>
              <a:t> Uses hidden state</a:t>
            </a:r>
            <a:endParaRPr lang="en-US" sz="2800">
              <a:solidFill>
                <a:srgbClr val="002060"/>
              </a:solidFill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2800">
                <a:solidFill>
                  <a:srgbClr val="002060"/>
                </a:solidFill>
              </a:rPr>
              <a:t> Predicts next word</a:t>
            </a:r>
            <a:endParaRPr lang="en-US" sz="280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0445" y="120015"/>
            <a:ext cx="10515600" cy="760730"/>
          </a:xfrm>
        </p:spPr>
        <p:txBody>
          <a:bodyPr>
            <a:normAutofit fontScale="90000"/>
          </a:bodyPr>
          <a:p>
            <a:pPr algn="ctr"/>
            <a:r>
              <a:rPr lang="en-US" sz="4800">
                <a:solidFill>
                  <a:srgbClr val="FF0000"/>
                </a:solidFill>
              </a:rPr>
              <a:t>Decoder (Code Flow)</a:t>
            </a:r>
            <a:endParaRPr lang="en-US" sz="480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8275" y="781685"/>
            <a:ext cx="11814810" cy="5746750"/>
          </a:xfrm>
        </p:spPr>
        <p:txBody>
          <a:bodyPr>
            <a:noAutofit/>
          </a:bodyPr>
          <a:p>
            <a:pPr marL="0" indent="0">
              <a:lnSpc>
                <a:spcPct val="130000"/>
              </a:lnSpc>
              <a:buNone/>
            </a:pPr>
            <a:r>
              <a:rPr lang="en-US" sz="2800">
                <a:solidFill>
                  <a:srgbClr val="002060"/>
                </a:solidFill>
              </a:rPr>
              <a:t>Encoder:</a:t>
            </a:r>
            <a:endParaRPr lang="en-US" sz="2800">
              <a:solidFill>
                <a:srgbClr val="002060"/>
              </a:solidFill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2800">
                <a:solidFill>
                  <a:srgbClr val="002060"/>
                </a:solidFill>
              </a:rPr>
              <a:t>i → h₁ → like → h₂ → ai → h₃</a:t>
            </a:r>
            <a:endParaRPr lang="en-US" sz="2800">
              <a:solidFill>
                <a:srgbClr val="002060"/>
              </a:solidFill>
            </a:endParaRPr>
          </a:p>
          <a:p>
            <a:pPr marL="0" indent="0">
              <a:lnSpc>
                <a:spcPct val="130000"/>
              </a:lnSpc>
              <a:buNone/>
            </a:pPr>
            <a:endParaRPr lang="en-US" sz="2800">
              <a:solidFill>
                <a:srgbClr val="002060"/>
              </a:solidFill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2800">
                <a:solidFill>
                  <a:srgbClr val="002060"/>
                </a:solidFill>
              </a:rPr>
              <a:t>Decoder:</a:t>
            </a:r>
            <a:endParaRPr lang="en-US" sz="2800">
              <a:solidFill>
                <a:srgbClr val="002060"/>
              </a:solidFill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2800">
                <a:solidFill>
                  <a:srgbClr val="002060"/>
                </a:solidFill>
              </a:rPr>
              <a:t>        h₃ → h₄ → h₅ → h₆</a:t>
            </a:r>
            <a:endParaRPr lang="en-US" sz="2800">
              <a:solidFill>
                <a:srgbClr val="002060"/>
              </a:solidFill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2800">
                <a:solidFill>
                  <a:srgbClr val="002060"/>
                </a:solidFill>
              </a:rPr>
              <a:t>        ↓     ↓     ↓</a:t>
            </a:r>
            <a:endParaRPr lang="en-US" sz="2800">
              <a:solidFill>
                <a:srgbClr val="002060"/>
              </a:solidFill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2800">
                <a:solidFill>
                  <a:srgbClr val="002060"/>
                </a:solidFill>
              </a:rPr>
              <a:t>      ai    like    i</a:t>
            </a:r>
            <a:endParaRPr lang="en-US" sz="280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宋体"/>
        <a:font script="Hant" typeface="新細明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1144</Words>
  <Application>WPS Presentation</Application>
  <PresentationFormat>宽屏</PresentationFormat>
  <Paragraphs>77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3" baseType="lpstr">
      <vt:lpstr>Arial</vt:lpstr>
      <vt:lpstr>SimSun</vt:lpstr>
      <vt:lpstr>Wingdings</vt:lpstr>
      <vt:lpstr>Nimbus Roman No9 L</vt:lpstr>
      <vt:lpstr>Arial Black</vt:lpstr>
      <vt:lpstr>Microsoft YaHei</vt:lpstr>
      <vt:lpstr>Droid Sans Fallback</vt:lpstr>
      <vt:lpstr>Arial Unicode MS</vt:lpstr>
      <vt:lpstr>SimSun</vt:lpstr>
      <vt:lpstr>OpenSymbol</vt:lpstr>
      <vt:lpstr>文鼎ＰＬ简中楷</vt:lpstr>
      <vt:lpstr>Noto Sans Symbols2</vt:lpstr>
      <vt:lpstr>Andika</vt:lpstr>
      <vt:lpstr>Office Theme</vt:lpstr>
      <vt:lpstr>PowerPoint 演示文稿</vt:lpstr>
      <vt:lpstr>PowerPoint 演示文稿</vt:lpstr>
      <vt:lpstr>Execution Flow</vt:lpstr>
      <vt:lpstr>Execution Flow</vt:lpstr>
      <vt:lpstr>Execution Flow</vt:lpstr>
      <vt:lpstr>Text → Numbers (Tokenization)</vt:lpstr>
      <vt:lpstr>Model Architecture</vt:lpstr>
      <vt:lpstr>Encoder (Concept)</vt:lpstr>
      <vt:lpstr>Decoder (Code Flow)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janaki</cp:lastModifiedBy>
  <cp:revision>19</cp:revision>
  <dcterms:created xsi:type="dcterms:W3CDTF">2026-03-19T04:35:50Z</dcterms:created>
  <dcterms:modified xsi:type="dcterms:W3CDTF">2026-03-19T04:35:50Z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1033-11.1.0.11723</vt:lpwstr>
  </property>
  <property fmtid="{D5CDD505-2E9C-101B-9397-08002B2CF9AE}" pid="3" name="ICV">
    <vt:lpwstr/>
  </property>
</Properties>
</file>